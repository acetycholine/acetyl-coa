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88" r:id="rId7"/>
    <p:sldId id="273" r:id="rId8"/>
    <p:sldId id="274" r:id="rId9"/>
    <p:sldId id="260" r:id="rId10"/>
    <p:sldId id="262" r:id="rId11"/>
    <p:sldId id="263" r:id="rId12"/>
    <p:sldId id="270" r:id="rId13"/>
    <p:sldId id="264" r:id="rId14"/>
    <p:sldId id="265" r:id="rId15"/>
    <p:sldId id="266" r:id="rId16"/>
    <p:sldId id="289" r:id="rId17"/>
    <p:sldId id="272" r:id="rId18"/>
    <p:sldId id="267" r:id="rId19"/>
    <p:sldId id="268" r:id="rId20"/>
    <p:sldId id="269" r:id="rId21"/>
    <p:sldId id="275" r:id="rId22"/>
    <p:sldId id="276" r:id="rId23"/>
    <p:sldId id="290" r:id="rId24"/>
    <p:sldId id="2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2-23T21:37:0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11021.976 7814.976 767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2-23T23:32:27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  <inkml:brushProperty name="ignorePressure" value="0"/>
    </inkml:brush>
  </inkml:definitions>
  <inkml:trace contextRef="#ctx0" brushRef="#br0">13029.588 2234.000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2-23T22:11:39"/>
    </inkml:context>
    <inkml:brush xml:id="br0">
      <inkml:brushProperty name="width" value="0.0529194456206428" units="cm"/>
      <inkml:brushProperty name="height" value="0.0529194456206428" units="cm"/>
      <inkml:brushProperty name="color" value="#fff700"/>
      <inkml:brushProperty name="ignorePressure" value="0"/>
    </inkml:brush>
  </inkml:definitions>
  <inkml:trace contextRef="#ctx0" brushRef="#br0">13868.031 6275.031 767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customXml" Target="../ink/ink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705860" y="1835785"/>
            <a:ext cx="4919980" cy="403098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788988" y="161290"/>
            <a:ext cx="1098232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Water - Solutions - Solubility</a:t>
            </a:r>
            <a:endParaRPr lang="en-US" altLang="zh-CN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027035" y="6035040"/>
            <a:ext cx="3950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36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Victory Ogaga</a:t>
            </a:r>
            <a:endParaRPr lang="en-US" sz="36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070475" y="798195"/>
            <a:ext cx="5508625" cy="548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en-US" sz="3200"/>
              <a:t>What are solutions ? </a:t>
            </a:r>
            <a:endParaRPr lang="en-US" altLang="en-US" sz="3200"/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en-US" sz="3200"/>
              <a:t>What are solvents ?</a:t>
            </a:r>
            <a:endParaRPr lang="en-US" altLang="en-US" sz="3200"/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en-US" sz="3200"/>
              <a:t>What are solutes ? </a:t>
            </a:r>
            <a:endParaRPr lang="en-US" altLang="en-US" sz="3200"/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en-US" sz="3200"/>
              <a:t>what is solubility ?</a:t>
            </a:r>
            <a:endParaRPr lang="en-US" altLang="en-US" sz="3200"/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en-US" sz="3200"/>
              <a:t>What solubility curve ? </a:t>
            </a:r>
            <a:endParaRPr lang="en-US" altLang="en-US" sz="3200"/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en-US" altLang="en-US" sz="3200"/>
              <a:t>What are saturated and unsaturated solutions ?</a:t>
            </a:r>
            <a:endParaRPr lang="en-US" altLang="en-US" sz="320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571500"/>
            <a:ext cx="425513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20970" y="290195"/>
            <a:ext cx="6757670" cy="5984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 b="1"/>
              <a:t>Key Concepts:</a:t>
            </a:r>
            <a:endParaRPr lang="en-US" altLang="en-US" sz="3200" b="1"/>
          </a:p>
          <a:p>
            <a:endParaRPr lang="en-US" altLang="en-US" sz="3200"/>
          </a:p>
          <a:p>
            <a:r>
              <a:rPr lang="en-US" altLang="en-US" sz="3200"/>
              <a:t>Solute: The substance being dissolved (e.g., salt).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Solvent: The substance that dissolves the solute (e.g., water).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Solution: A uniform mixture of solute and solvent.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>
                <a:sym typeface="+mn-ea"/>
              </a:rPr>
              <a:t>Solubility: Ability of a solute to dissolve in a solvent.</a:t>
            </a:r>
            <a:endParaRPr lang="en-US" altLang="en-US" sz="3200"/>
          </a:p>
          <a:p>
            <a:endParaRPr lang="en-US" altLang="en-US" sz="32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487997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/>
          <p:nvPr/>
        </p:nvPicPr>
        <p:blipFill>
          <a:blip r:embed="rId1"/>
          <a:srcRect t="8462"/>
          <a:stretch>
            <a:fillRect/>
          </a:stretch>
        </p:blipFill>
        <p:spPr>
          <a:xfrm>
            <a:off x="762000" y="673735"/>
            <a:ext cx="10287000" cy="5522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388110" y="428625"/>
            <a:ext cx="801560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rgbClr val="FF0000"/>
                </a:solidFill>
              </a:rPr>
              <a:t>PTS/WAEC/JAMB Question</a:t>
            </a:r>
            <a:endParaRPr lang="en-US" altLang="en-US" sz="2400" b="1">
              <a:solidFill>
                <a:srgbClr val="FF0000"/>
              </a:solidFill>
            </a:endParaRPr>
          </a:p>
          <a:p>
            <a:endParaRPr lang="en-US" altLang="en-US" sz="2400"/>
          </a:p>
          <a:p>
            <a:r>
              <a:rPr lang="en-US" altLang="en-US" sz="2400"/>
              <a:t>Why is water often referred to as the "universal solvent"?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A</a:t>
            </a:r>
            <a:endParaRPr lang="en-US" altLang="en-US" sz="2400"/>
          </a:p>
          <a:p>
            <a:r>
              <a:rPr lang="en-US" altLang="en-US" sz="2400"/>
              <a:t>Water is the most abundant substance on Earth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B</a:t>
            </a:r>
            <a:endParaRPr lang="en-US" altLang="en-US" sz="2400"/>
          </a:p>
          <a:p>
            <a:r>
              <a:rPr lang="en-US" altLang="en-US" sz="2400"/>
              <a:t>Water is essential for all living organisms.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C</a:t>
            </a:r>
            <a:endParaRPr lang="en-US" altLang="en-US" sz="2400"/>
          </a:p>
          <a:p>
            <a:r>
              <a:rPr lang="en-US" altLang="en-US" sz="2400"/>
              <a:t>Water is involved in many chemical reactions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D</a:t>
            </a:r>
            <a:endParaRPr lang="en-US" altLang="en-US" sz="2400"/>
          </a:p>
          <a:p>
            <a:r>
              <a:rPr lang="en-US" altLang="en-US" sz="2400"/>
              <a:t>Water can dissolve a wide variety of substances due to its polar nature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071370" y="1196975"/>
            <a:ext cx="776097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/>
              <a:t>Factors affecting Solubility</a:t>
            </a:r>
            <a:endParaRPr lang="en-US" sz="4000" b="1"/>
          </a:p>
          <a:p>
            <a:endParaRPr lang="en-US" sz="4000" b="1"/>
          </a:p>
          <a:p>
            <a:pPr marL="514350" indent="-514350">
              <a:buAutoNum type="arabicPeriod"/>
            </a:pPr>
            <a:r>
              <a:rPr lang="en-US" sz="4000"/>
              <a:t>Nature of solute </a:t>
            </a:r>
            <a:endParaRPr lang="en-US" sz="4000"/>
          </a:p>
          <a:p>
            <a:pPr marL="514350" indent="-514350">
              <a:buAutoNum type="arabicPeriod"/>
            </a:pPr>
            <a:r>
              <a:rPr lang="en-US" sz="4000"/>
              <a:t>Temperature </a:t>
            </a:r>
            <a:endParaRPr lang="en-US" sz="4000"/>
          </a:p>
          <a:p>
            <a:pPr marL="514350" indent="-514350">
              <a:buAutoNum type="arabicPeriod"/>
            </a:pPr>
            <a:r>
              <a:rPr lang="en-US" sz="4000"/>
              <a:t>Pressure</a:t>
            </a:r>
            <a:endParaRPr lang="en-US" sz="4000"/>
          </a:p>
          <a:p>
            <a:pPr marL="514350" indent="-514350">
              <a:buAutoNum type="arabicPeriod"/>
            </a:pPr>
            <a:r>
              <a:rPr lang="en-US" sz="4000"/>
              <a:t>Nature of solvent </a:t>
            </a:r>
            <a:endParaRPr lang="en-US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18590" y="942340"/>
            <a:ext cx="8716010" cy="5274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On which of the following is the solubility of a gaseous substance dependent (i) nature of solvent (ii) nature of solute (iii) temperature (iv) pressure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A i ii iii and iv </a:t>
            </a:r>
            <a:endParaRPr lang="en-US" altLang="en-US" sz="3200"/>
          </a:p>
          <a:p>
            <a:r>
              <a:rPr lang="en-US" altLang="en-US" sz="3200"/>
              <a:t>B i and ii only</a:t>
            </a:r>
            <a:endParaRPr lang="en-US" altLang="en-US" sz="3200"/>
          </a:p>
          <a:p>
            <a:r>
              <a:rPr lang="en-US" altLang="en-US" sz="3200"/>
              <a:t>C. ii only </a:t>
            </a:r>
            <a:endParaRPr lang="en-US" altLang="en-US" sz="3200"/>
          </a:p>
          <a:p>
            <a:r>
              <a:rPr lang="en-US" altLang="en-US" sz="3200"/>
              <a:t>D i iii and iv only</a:t>
            </a:r>
            <a:endParaRPr lang="en-US" alt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5488305" y="112395"/>
            <a:ext cx="5943600" cy="5788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 b="1"/>
              <a:t>Water &amp; Treatment:</a:t>
            </a:r>
            <a:endParaRPr lang="en-US" altLang="en-US" sz="3200" b="1"/>
          </a:p>
          <a:p>
            <a:endParaRPr lang="en-US" altLang="en-US" sz="2800"/>
          </a:p>
          <a:p>
            <a:r>
              <a:rPr lang="en-US" altLang="en-US" sz="2800"/>
              <a:t>Common source: Rainwater </a:t>
            </a:r>
            <a:r>
              <a:rPr lang="zh-CN" altLang="en-US" sz="2800"/>
              <a:t>🌧</a:t>
            </a:r>
            <a:r>
              <a:rPr lang="en-US" altLang="en-US" sz="2800"/>
              <a:t>️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Chlorination: Adding chlorine to kill germs </a:t>
            </a:r>
            <a:r>
              <a:rPr lang="zh-CN" altLang="en-US" sz="2800"/>
              <a:t>🦠</a:t>
            </a:r>
            <a:endParaRPr lang="zh-CN" altLang="en-US" sz="2800"/>
          </a:p>
          <a:p>
            <a:endParaRPr lang="en-US" altLang="en-US" sz="2800"/>
          </a:p>
          <a:p>
            <a:r>
              <a:rPr lang="en-US" altLang="en-US" sz="2800" b="1"/>
              <a:t>Industrial Treatment:</a:t>
            </a:r>
            <a:endParaRPr lang="en-US" altLang="en-US" sz="2800" b="1"/>
          </a:p>
          <a:p>
            <a:endParaRPr lang="en-US" altLang="en-US" sz="2800"/>
          </a:p>
          <a:p>
            <a:r>
              <a:rPr lang="en-US" altLang="en-US" sz="2800"/>
              <a:t>Potassium Alum [KAl(SO4)2]: Causes coagulation — impurities clump together.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Sodium Alum III [NaAlO2]: Enhances purification by settling impurities.</a:t>
            </a:r>
            <a:endParaRPr lang="en-US" altLang="en-US" sz="2800"/>
          </a:p>
        </p:txBody>
      </p:sp>
      <p:pic>
        <p:nvPicPr>
          <p:cNvPr id="9" name="Picture 8"/>
          <p:cNvPicPr/>
          <p:nvPr/>
        </p:nvPicPr>
        <p:blipFill>
          <a:blip r:embed="rId1"/>
          <a:srcRect l="55476"/>
          <a:stretch>
            <a:fillRect/>
          </a:stretch>
        </p:blipFill>
        <p:spPr>
          <a:xfrm>
            <a:off x="635" y="0"/>
            <a:ext cx="5130800" cy="685863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2462510" y="3747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354320" y="0"/>
            <a:ext cx="683768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/>
              <a:t>Hardness of Water: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Hard water: Doesn’t form lather easily with soap </a:t>
            </a:r>
            <a:r>
              <a:rPr lang="zh-CN" altLang="en-US" sz="2400"/>
              <a:t>🧼</a:t>
            </a:r>
            <a:endParaRPr lang="zh-CN" altLang="en-US" sz="2400"/>
          </a:p>
          <a:p>
            <a:endParaRPr lang="en-US" altLang="en-US" sz="2400"/>
          </a:p>
          <a:p>
            <a:r>
              <a:rPr lang="en-US" altLang="en-US" sz="2400" b="1"/>
              <a:t>Caused by dissolved salts:</a:t>
            </a:r>
            <a:endParaRPr lang="en-US" altLang="en-US" sz="2400" b="1"/>
          </a:p>
          <a:p>
            <a:endParaRPr lang="en-US" altLang="en-US" sz="2400"/>
          </a:p>
          <a:p>
            <a:r>
              <a:rPr lang="en-US" altLang="en-US" sz="2400"/>
              <a:t>Calcium salts (CaSO4)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Magnesium salts (MgSO4)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Origin of Hardness:</a:t>
            </a:r>
            <a:endParaRPr lang="en-US" altLang="en-US" sz="2400" b="1"/>
          </a:p>
          <a:p>
            <a:endParaRPr lang="en-US" altLang="en-US" sz="2400"/>
          </a:p>
          <a:p>
            <a:r>
              <a:rPr lang="en-US" altLang="en-US" sz="2400"/>
              <a:t>CaSO4•2H2O (Gypsum)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CaCO3 (Limestone)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Reaction</a:t>
            </a:r>
            <a:r>
              <a:rPr lang="en-US" altLang="en-US" sz="2400"/>
              <a:t>: CaCO3 + CO2 + H2O → Ca(HCO3)2 (Soluble)</a:t>
            </a:r>
            <a:endParaRPr lang="en-US" altLang="en-US" sz="2400"/>
          </a:p>
        </p:txBody>
      </p:sp>
      <p:pic>
        <p:nvPicPr>
          <p:cNvPr id="5" name="Picture 4"/>
          <p:cNvPicPr/>
          <p:nvPr/>
        </p:nvPicPr>
        <p:blipFill>
          <a:blip r:embed="rId1"/>
          <a:srcRect l="55476"/>
          <a:stretch>
            <a:fillRect/>
          </a:stretch>
        </p:blipFill>
        <p:spPr>
          <a:xfrm>
            <a:off x="635" y="0"/>
            <a:ext cx="4747895" cy="68586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872230" y="177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" name="Ink 8"/>
              <p14:cNvContentPartPr/>
              <p14:nvPr/>
            </p14:nvContentPartPr>
            <p14:xfrm>
              <a:off x="6998970" y="4962525"/>
              <a:ext cx="635" cy="635"/>
            </p14:xfrm>
          </p:contentPart>
        </mc:Choice>
        <mc:Fallback xmlns="">
          <p:pic>
            <p:nvPicPr>
              <p:cNvPr id="9" name="Ink 8"/>
            </p:nvPicPr>
            <p:blipFill>
              <a:blip r:embed="rId3"/>
            </p:blipFill>
            <p:spPr>
              <a:xfrm>
                <a:off x="6998970" y="496252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546725" y="1132840"/>
            <a:ext cx="6645275" cy="4026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 b="1"/>
              <a:t>Types of Hard Water:</a:t>
            </a:r>
            <a:endParaRPr lang="en-US" altLang="en-US" sz="3200" b="1"/>
          </a:p>
          <a:p>
            <a:endParaRPr lang="en-US" altLang="en-US" sz="3200"/>
          </a:p>
          <a:p>
            <a:r>
              <a:rPr lang="en-US" altLang="en-US" sz="3200" b="1"/>
              <a:t>Temporary Hardness:</a:t>
            </a:r>
            <a:endParaRPr lang="en-US" altLang="en-US" sz="3200" b="1"/>
          </a:p>
          <a:p>
            <a:r>
              <a:rPr lang="en-US" altLang="en-US" sz="3200"/>
              <a:t>Removed by boiling </a:t>
            </a:r>
            <a:r>
              <a:rPr lang="zh-CN" altLang="en-US" sz="3200"/>
              <a:t>🔥</a:t>
            </a:r>
            <a:endParaRPr lang="zh-CN" altLang="en-US" sz="3200"/>
          </a:p>
          <a:p>
            <a:endParaRPr lang="en-US" altLang="en-US" sz="3200"/>
          </a:p>
          <a:p>
            <a:r>
              <a:rPr lang="en-US" altLang="en-US" sz="3200"/>
              <a:t>Ca(HCO3)2 → CaCO3 + H2O + CO2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Example: Fur in kettles </a:t>
            </a:r>
            <a:r>
              <a:rPr lang="zh-CN" altLang="en-US" sz="3200"/>
              <a:t>☕</a:t>
            </a:r>
            <a:endParaRPr lang="zh-CN" altLang="en-US" sz="3200"/>
          </a:p>
          <a:p>
            <a:endParaRPr lang="en-US" altLang="en-US" sz="3200"/>
          </a:p>
          <a:p>
            <a:endParaRPr lang="en-US" altLang="en-US" sz="32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 flipH="1">
            <a:off x="-635" y="652780"/>
            <a:ext cx="4757420" cy="5876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99770" y="285115"/>
            <a:ext cx="1018349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rgbClr val="FF0000"/>
                </a:solidFill>
              </a:rPr>
              <a:t>PTS/JAMB/WAEC Question</a:t>
            </a:r>
            <a:endParaRPr lang="en-US" altLang="en-US" sz="2400" b="1">
              <a:solidFill>
                <a:srgbClr val="FF0000"/>
              </a:solidFill>
            </a:endParaRPr>
          </a:p>
          <a:p>
            <a:endParaRPr lang="en-US" altLang="en-US" sz="2400"/>
          </a:p>
          <a:p>
            <a:r>
              <a:rPr lang="en-US" altLang="en-US" sz="2400"/>
              <a:t>Which of the following methods can be used to remove temporary hardness from water?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A</a:t>
            </a:r>
            <a:endParaRPr lang="en-US" altLang="en-US" sz="2400"/>
          </a:p>
          <a:p>
            <a:r>
              <a:rPr lang="en-US" altLang="en-US" sz="2400"/>
              <a:t>Boiling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B</a:t>
            </a:r>
            <a:endParaRPr lang="en-US" altLang="en-US" sz="2400"/>
          </a:p>
          <a:p>
            <a:r>
              <a:rPr lang="en-US" altLang="en-US" sz="2400"/>
              <a:t>Filtration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C</a:t>
            </a:r>
            <a:endParaRPr lang="en-US" altLang="en-US" sz="2400"/>
          </a:p>
          <a:p>
            <a:r>
              <a:rPr lang="en-US" altLang="en-US" sz="2400"/>
              <a:t>Distillation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D</a:t>
            </a:r>
            <a:endParaRPr lang="en-US" altLang="en-US" sz="2400"/>
          </a:p>
          <a:p>
            <a:r>
              <a:rPr lang="en-US" altLang="en-US" sz="2400"/>
              <a:t>Chlorination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048885" y="666750"/>
            <a:ext cx="575627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ym typeface="+mn-ea"/>
              </a:rPr>
              <a:t>Permanent Hardness:</a:t>
            </a:r>
            <a:endParaRPr lang="en-US" altLang="en-US" sz="2400" b="1"/>
          </a:p>
          <a:p>
            <a:r>
              <a:rPr lang="en-US" altLang="en-US" sz="2400">
                <a:sym typeface="+mn-ea"/>
              </a:rPr>
              <a:t>Removed by adding chemicals: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>
                <a:sym typeface="+mn-ea"/>
              </a:rPr>
              <a:t>Washing soda (Na2CO3):</a:t>
            </a:r>
            <a:endParaRPr lang="en-US" altLang="en-US" sz="2400" b="1"/>
          </a:p>
          <a:p>
            <a:endParaRPr lang="en-US" altLang="en-US" sz="2400"/>
          </a:p>
          <a:p>
            <a:r>
              <a:rPr lang="en-US" altLang="en-US" sz="2400">
                <a:sym typeface="+mn-ea"/>
              </a:rPr>
              <a:t>Na2CO3 + CaSO4 → CaCO3 + Na2SO4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>
                <a:sym typeface="+mn-ea"/>
              </a:rPr>
              <a:t>Na2CO3 + MgSO4 → MgCO3 + Na2SO4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>
                <a:sym typeface="+mn-ea"/>
              </a:rPr>
              <a:t>Caustic soda (NaOH):</a:t>
            </a:r>
            <a:endParaRPr lang="en-US" altLang="en-US" sz="2400" b="1"/>
          </a:p>
          <a:p>
            <a:endParaRPr lang="en-US" altLang="en-US" sz="2400"/>
          </a:p>
          <a:p>
            <a:r>
              <a:rPr lang="en-US" altLang="en-US" sz="2400">
                <a:sym typeface="+mn-ea"/>
              </a:rPr>
              <a:t>2NaOH + CaSO4 → Ca(OH)2 + Na2SO4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>
                <a:sym typeface="+mn-ea"/>
              </a:rPr>
              <a:t>2NaOH + MgSO4 → Mg(OH)2 + Na2SO4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718820"/>
            <a:ext cx="4762500" cy="5948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816600" y="1228725"/>
            <a:ext cx="5944235" cy="5313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000" b="1"/>
              <a:t>Saturated &amp; Unsaturated Solutions:</a:t>
            </a:r>
            <a:endParaRPr lang="en-US" altLang="en-US" sz="4000" b="1"/>
          </a:p>
          <a:p>
            <a:endParaRPr lang="en-US" altLang="en-US" sz="3600"/>
          </a:p>
          <a:p>
            <a:r>
              <a:rPr lang="en-US" altLang="en-US" sz="3600" b="1"/>
              <a:t>Saturated:</a:t>
            </a:r>
            <a:r>
              <a:rPr lang="en-US" altLang="en-US" sz="3600"/>
              <a:t> Maximum amount of solute dissolved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3600" b="1"/>
              <a:t>Unsaturated:</a:t>
            </a:r>
            <a:r>
              <a:rPr lang="en-US" altLang="en-US" sz="3600"/>
              <a:t> More solute can still dissolve</a:t>
            </a:r>
            <a:endParaRPr lang="en-US" altLang="en-US" sz="3600"/>
          </a:p>
          <a:p>
            <a:endParaRPr lang="en-US" altLang="en-US" sz="3600"/>
          </a:p>
          <a:p>
            <a:endParaRPr lang="en-US" altLang="en-US" sz="3600"/>
          </a:p>
        </p:txBody>
      </p:sp>
      <p:pic>
        <p:nvPicPr>
          <p:cNvPr id="6" name="Picture 5"/>
          <p:cNvPicPr/>
          <p:nvPr/>
        </p:nvPicPr>
        <p:blipFill>
          <a:blip r:embed="rId1"/>
          <a:srcRect r="13348"/>
          <a:stretch>
            <a:fillRect/>
          </a:stretch>
        </p:blipFill>
        <p:spPr>
          <a:xfrm>
            <a:off x="0" y="216535"/>
            <a:ext cx="4971415" cy="6780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olubility-curve-soli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" y="122555"/>
            <a:ext cx="6666230" cy="66078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708775" y="330200"/>
            <a:ext cx="5052060" cy="549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/>
              <a:t>Solubility Curve: </a:t>
            </a:r>
            <a:r>
              <a:rPr lang="zh-CN" altLang="en-US" sz="3600"/>
              <a:t>📈</a:t>
            </a:r>
            <a:r>
              <a:rPr lang="en-US" altLang="en-US" sz="3600"/>
              <a:t> Visual representation of how solubility changes with temperature</a:t>
            </a:r>
            <a:endParaRPr lang="en-US" altLang="en-US"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349500" y="1210310"/>
            <a:ext cx="78936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/>
              <a:t>The solubility curve shows the variation of a solute concentration with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3600"/>
              <a:t>A volume</a:t>
            </a:r>
            <a:endParaRPr lang="en-US" altLang="en-US" sz="3600"/>
          </a:p>
          <a:p>
            <a:r>
              <a:rPr lang="en-US" altLang="en-US" sz="3600"/>
              <a:t>B vapour density</a:t>
            </a:r>
            <a:endParaRPr lang="en-US" altLang="en-US" sz="3600"/>
          </a:p>
          <a:p>
            <a:r>
              <a:rPr lang="en-US" altLang="en-US" sz="3600"/>
              <a:t>C pressure </a:t>
            </a:r>
            <a:endParaRPr lang="en-US" altLang="en-US" sz="3600"/>
          </a:p>
          <a:p>
            <a:r>
              <a:rPr lang="en-US" altLang="en-US" sz="3600"/>
              <a:t>D temperature</a:t>
            </a:r>
            <a:endParaRPr lang="en-US" altLang="en-US"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WhatsApp Image 2025-02-23 at 5.58.2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364490"/>
            <a:ext cx="11513185" cy="6130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147695" y="2829560"/>
            <a:ext cx="589661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CALCULATIONS</a:t>
            </a:r>
            <a:endParaRPr lang="en-US" altLang="zh-CN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1003300" y="1008380"/>
            <a:ext cx="9772650" cy="508190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en-US" altLang="en-US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Solubility Calculations:</a:t>
            </a:r>
            <a:endParaRPr lang="zh-CN" altLang="en-US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endParaRPr lang="en-US" altLang="en-US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r>
              <a:rPr lang="en-US" altLang="en-US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Formula: S = (g/v </a:t>
            </a:r>
            <a:r>
              <a:rPr lang="en-US" altLang="en-US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÷</a:t>
            </a:r>
            <a:r>
              <a:rPr lang="en-US" altLang="en-US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m.m) x 1000</a:t>
            </a:r>
            <a:endParaRPr lang="en-US" altLang="en-US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endParaRPr lang="en-US" altLang="en-US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endParaRPr lang="en-US" altLang="en-US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07235" y="400050"/>
            <a:ext cx="7443470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PTS/JAMB/WAEC Question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If 10.5g of lead(ii)  trioxonitrate (v) Pb(NO₃)₂ is dissolved at 20cm3 in distilled water at 18⁰C. The solubility of the solute in mol/dm3 is 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A. 1.6</a:t>
            </a:r>
            <a:endParaRPr lang="en-US" altLang="en-US" sz="2800"/>
          </a:p>
          <a:p>
            <a:r>
              <a:rPr lang="en-US" altLang="en-US" sz="2800"/>
              <a:t>B. 5.52</a:t>
            </a:r>
            <a:endParaRPr lang="en-US" altLang="en-US" sz="2800"/>
          </a:p>
          <a:p>
            <a:r>
              <a:rPr lang="en-US" altLang="en-US" sz="2800"/>
              <a:t>C. 16</a:t>
            </a:r>
            <a:endParaRPr lang="en-US" altLang="en-US" sz="2800"/>
          </a:p>
          <a:p>
            <a:r>
              <a:rPr lang="en-US" altLang="en-US" sz="2800"/>
              <a:t>D. 525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[ Pb = 207, N=14 ,O =16]</a:t>
            </a:r>
            <a:endParaRPr lang="en-US" altLang="en-US" sz="2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8274050" y="1419225"/>
              <a:ext cx="635" cy="635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8274050" y="141922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032000" y="1087755"/>
            <a:ext cx="4064000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/>
              <a:t>step 1:  </a:t>
            </a:r>
            <a:r>
              <a:rPr lang="en-US" altLang="en-US" sz="2400"/>
              <a:t>Molar mass of </a:t>
            </a:r>
            <a:r>
              <a:rPr lang="en-US" altLang="en-US" sz="3600"/>
              <a:t>Pb(NO₃)₂ = 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3200"/>
              <a:t>207 + 2x14 + 6 x16</a:t>
            </a:r>
            <a:endParaRPr lang="en-US" altLang="en-US" sz="3200"/>
          </a:p>
          <a:p>
            <a:r>
              <a:rPr lang="en-US" altLang="en-US" sz="3200"/>
              <a:t>= 207 + 28 + 96</a:t>
            </a:r>
            <a:endParaRPr lang="en-US" altLang="en-US" sz="3200"/>
          </a:p>
          <a:p>
            <a:r>
              <a:rPr lang="en-US" altLang="en-US" sz="3200"/>
              <a:t>= 207 + 124</a:t>
            </a:r>
            <a:endParaRPr lang="en-US" altLang="en-US" sz="3200"/>
          </a:p>
          <a:p>
            <a:r>
              <a:rPr lang="en-US" altLang="en-US" sz="3200"/>
              <a:t>= 207 + 124</a:t>
            </a:r>
            <a:endParaRPr lang="en-US" altLang="en-US" sz="3200"/>
          </a:p>
          <a:p>
            <a:r>
              <a:rPr lang="en-US" altLang="en-US" sz="3200"/>
              <a:t>= 331 g/mol</a:t>
            </a:r>
            <a:endParaRPr lang="en-US" altLang="en-US" sz="3200"/>
          </a:p>
        </p:txBody>
      </p:sp>
      <p:sp>
        <p:nvSpPr>
          <p:cNvPr id="5" name="Rectangles 4"/>
          <p:cNvSpPr/>
          <p:nvPr/>
        </p:nvSpPr>
        <p:spPr>
          <a:xfrm>
            <a:off x="1905953" y="2203450"/>
            <a:ext cx="288353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Pb + 2N + 6O</a:t>
            </a:r>
            <a:endParaRPr lang="en-US" altLang="zh-CN" sz="40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26150" y="1087755"/>
            <a:ext cx="4393565" cy="4249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/>
              <a:t>Step 2:</a:t>
            </a:r>
            <a:endParaRPr lang="en-US" sz="2800" b="1"/>
          </a:p>
          <a:p>
            <a:r>
              <a:rPr lang="en-US" sz="2800" b="1"/>
              <a:t> S =</a:t>
            </a:r>
            <a:r>
              <a:rPr lang="en-US" sz="3200"/>
              <a:t>(g/v </a:t>
            </a:r>
            <a:r>
              <a:rPr lang="en-US" sz="3200">
                <a:latin typeface="Arial" panose="020B0604020202020204" pitchFamily="34" charset="0"/>
              </a:rPr>
              <a:t>÷ m.m) x 1000</a:t>
            </a:r>
            <a:endParaRPr lang="en-US" sz="3200">
              <a:latin typeface="Arial" panose="020B0604020202020204" pitchFamily="34" charset="0"/>
            </a:endParaRPr>
          </a:p>
          <a:p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10.5 / 20  = 0.525</a:t>
            </a:r>
            <a:endParaRPr lang="en-US" sz="3200">
              <a:latin typeface="Arial" panose="020B0604020202020204" pitchFamily="34" charset="0"/>
            </a:endParaRPr>
          </a:p>
          <a:p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0.525 / 331 = 0.00158</a:t>
            </a:r>
            <a:endParaRPr lang="en-US" sz="3200">
              <a:latin typeface="Arial" panose="020B0604020202020204" pitchFamily="34" charset="0"/>
            </a:endParaRPr>
          </a:p>
          <a:p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0.00158 x 1000</a:t>
            </a: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1.58 = 1.56</a:t>
            </a:r>
            <a:endParaRPr lang="en-US" sz="3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8" name="Ink 17"/>
              <p14:cNvContentPartPr/>
              <p14:nvPr/>
            </p14:nvContentPartPr>
            <p14:xfrm>
              <a:off x="8806815" y="3985260"/>
              <a:ext cx="635" cy="635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2"/>
            </p:blipFill>
            <p:spPr>
              <a:xfrm>
                <a:off x="8806815" y="398526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033270" y="910590"/>
            <a:ext cx="77965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/>
              <a:t>The solubility in mole per dm</a:t>
            </a:r>
            <a:r>
              <a:rPr lang="en-US" altLang="en-US" sz="3200" baseline="30000"/>
              <a:t>3</a:t>
            </a:r>
            <a:r>
              <a:rPr lang="en-US" altLang="en-US" sz="3200"/>
              <a:t> of 20g of CuSO</a:t>
            </a:r>
            <a:r>
              <a:rPr lang="en-US" altLang="en-US" sz="3200" baseline="-25000"/>
              <a:t>4</a:t>
            </a:r>
            <a:r>
              <a:rPr lang="en-US" altLang="en-US" sz="3200"/>
              <a:t> dissolved 100 cm</a:t>
            </a:r>
            <a:r>
              <a:rPr lang="en-US" altLang="en-US" sz="3200" baseline="30000"/>
              <a:t>3</a:t>
            </a:r>
            <a:r>
              <a:rPr lang="en-US" altLang="en-US" sz="3200"/>
              <a:t> of water  at  180⁰C is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A. 0.13</a:t>
            </a:r>
            <a:endParaRPr lang="en-US" altLang="en-US" sz="3200"/>
          </a:p>
          <a:p>
            <a:r>
              <a:rPr lang="en-US" altLang="en-US" sz="3200"/>
              <a:t>B. 0.25</a:t>
            </a:r>
            <a:endParaRPr lang="en-US" altLang="en-US" sz="3200"/>
          </a:p>
          <a:p>
            <a:r>
              <a:rPr lang="en-US" altLang="en-US" sz="3200"/>
              <a:t>C. 1.24</a:t>
            </a:r>
            <a:endParaRPr lang="en-US" altLang="en-US" sz="3200"/>
          </a:p>
          <a:p>
            <a:r>
              <a:rPr lang="en-US" altLang="en-US" sz="3200"/>
              <a:t>D. 2.0</a:t>
            </a:r>
            <a:endParaRPr lang="en-US" altLang="en-US" sz="3200"/>
          </a:p>
          <a:p>
            <a:r>
              <a:rPr lang="en-US" altLang="en-US" sz="3200"/>
              <a:t> </a:t>
            </a:r>
            <a:endParaRPr lang="en-US" altLang="en-US" sz="3200"/>
          </a:p>
          <a:p>
            <a:r>
              <a:rPr lang="en-US" altLang="en-US" sz="3200"/>
              <a:t>[Cu=63.5 , S= 32, O= 16]</a:t>
            </a:r>
            <a:endParaRPr lang="en-US" altLang="en-US"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704340" y="428625"/>
            <a:ext cx="755396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STEP 1:</a:t>
            </a:r>
            <a:r>
              <a:rPr lang="en-US" sz="3200"/>
              <a:t> 1 Molar mass of CuSO</a:t>
            </a:r>
            <a:r>
              <a:rPr lang="en-US" sz="3200" baseline="-25000"/>
              <a:t>4  </a:t>
            </a:r>
            <a:r>
              <a:rPr lang="en-US" sz="3200"/>
              <a:t> </a:t>
            </a:r>
            <a:endParaRPr lang="en-US" sz="3200"/>
          </a:p>
          <a:p>
            <a:r>
              <a:rPr lang="en-US" sz="3200"/>
              <a:t>Cu + S + 4O</a:t>
            </a:r>
            <a:endParaRPr lang="en-US" sz="3200"/>
          </a:p>
          <a:p>
            <a:r>
              <a:rPr lang="en-US" sz="3200"/>
              <a:t>64 + 32 + 64</a:t>
            </a:r>
            <a:endParaRPr lang="en-US" sz="3200"/>
          </a:p>
          <a:p>
            <a:r>
              <a:rPr lang="en-US" sz="3200"/>
              <a:t>160</a:t>
            </a:r>
            <a:endParaRPr lang="en-US" sz="3200"/>
          </a:p>
          <a:p>
            <a:endParaRPr lang="en-US" sz="3200"/>
          </a:p>
          <a:p>
            <a:r>
              <a:rPr lang="en-US" sz="3200" b="1"/>
              <a:t>STEP 2:</a:t>
            </a:r>
            <a:endParaRPr lang="en-US" sz="3200" b="1"/>
          </a:p>
          <a:p>
            <a:r>
              <a:rPr lang="en-US" sz="3200"/>
              <a:t>g/v </a:t>
            </a:r>
            <a:r>
              <a:rPr lang="en-US" sz="3200">
                <a:latin typeface="Arial" panose="020B0604020202020204" pitchFamily="34" charset="0"/>
              </a:rPr>
              <a:t>÷ m.m </a:t>
            </a: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20/100 = 0.2</a:t>
            </a: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0.2/160 = 0.00125</a:t>
            </a: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0.00125 x 1000</a:t>
            </a: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=1.25</a:t>
            </a:r>
            <a:endParaRPr lang="en-US" sz="3200">
              <a:latin typeface="Arial" panose="020B0604020202020204" pitchFamily="34" charset="0"/>
            </a:endParaRPr>
          </a:p>
          <a:p>
            <a:endParaRPr lang="en-US" sz="3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513840" y="511810"/>
            <a:ext cx="771271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olidFill>
                  <a:srgbClr val="FF0000"/>
                </a:solidFill>
              </a:rPr>
              <a:t>Try</a:t>
            </a:r>
            <a:endParaRPr lang="en-US" sz="2800" b="1">
              <a:solidFill>
                <a:srgbClr val="FF0000"/>
              </a:solidFill>
            </a:endParaRPr>
          </a:p>
          <a:p>
            <a:endParaRPr lang="en-US" sz="2800"/>
          </a:p>
          <a:p>
            <a:r>
              <a:rPr lang="en-US" altLang="en-US" sz="2800"/>
              <a:t>9.8g of solid potassium chlorate was added to 40cm3 water, and heated to dissolve all the acid. As the solution cools ,crystals of KCLO3 started forming at 66⁰C. The solubility of KClO3 at 66⁰C is therefore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A. 24.5 mol/dm3</a:t>
            </a:r>
            <a:endParaRPr lang="en-US" altLang="en-US" sz="2800"/>
          </a:p>
          <a:p>
            <a:r>
              <a:rPr lang="en-US" altLang="en-US" sz="2800"/>
              <a:t>B. 0.2 mol/dm3</a:t>
            </a:r>
            <a:endParaRPr lang="en-US" altLang="en-US" sz="2800"/>
          </a:p>
          <a:p>
            <a:r>
              <a:rPr lang="en-US" altLang="en-US" sz="2800"/>
              <a:t>C. 10 mol/dm3</a:t>
            </a:r>
            <a:endParaRPr lang="en-US" altLang="en-US" sz="2800"/>
          </a:p>
          <a:p>
            <a:r>
              <a:rPr lang="en-US" altLang="en-US" sz="2800"/>
              <a:t>D. 20 mol/dm3</a:t>
            </a:r>
            <a:endParaRPr lang="en-US" altLang="en-US" sz="2800"/>
          </a:p>
          <a:p>
            <a:r>
              <a:rPr lang="en-US" altLang="en-US" sz="2800"/>
              <a:t>E. 2 mol/dm3</a:t>
            </a:r>
            <a:endParaRPr lang="en-US" alt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4539615" y="4296410"/>
            <a:ext cx="4908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K = 39, Cl = 35.5, O = 16</a:t>
            </a:r>
            <a:endParaRPr lang="en-US" sz="3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3366</Words>
  <Application>WPS Presentation</Application>
  <PresentationFormat>Widescreen</PresentationFormat>
  <Paragraphs>218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victory abiokuta</cp:lastModifiedBy>
  <cp:revision>21</cp:revision>
  <dcterms:created xsi:type="dcterms:W3CDTF">2025-02-22T21:38:00Z</dcterms:created>
  <dcterms:modified xsi:type="dcterms:W3CDTF">2025-11-18T18:27:39Z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474B9553ACB74812833C22542D2BCAF4_11</vt:lpwstr>
  </property>
  <property fmtid="{D5CDD505-2E9C-101B-9397-08002B2CF9AE}" pid="3" name="KSOProductBuildVer">
    <vt:lpwstr>1033-12.2.0.23155</vt:lpwstr>
  </property>
</Properties>
</file>