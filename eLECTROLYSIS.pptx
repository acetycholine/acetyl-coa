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5" r:id="rId10"/>
    <p:sldId id="263" r:id="rId11"/>
    <p:sldId id="264" r:id="rId12"/>
    <p:sldId id="266" r:id="rId13"/>
    <p:sldId id="272" r:id="rId14"/>
    <p:sldId id="277" r:id="rId15"/>
    <p:sldId id="278" r:id="rId16"/>
    <p:sldId id="279" r:id="rId17"/>
    <p:sldId id="280" r:id="rId18"/>
    <p:sldId id="281" r:id="rId19"/>
    <p:sldId id="267" r:id="rId20"/>
    <p:sldId id="273" r:id="rId21"/>
    <p:sldId id="275" r:id="rId22"/>
    <p:sldId id="276" r:id="rId23"/>
    <p:sldId id="286" r:id="rId24"/>
    <p:sldId id="287" r:id="rId25"/>
    <p:sldId id="288" r:id="rId26"/>
    <p:sldId id="289" r:id="rId27"/>
    <p:sldId id="290" r:id="rId28"/>
    <p:sldId id="291" r:id="rId29"/>
    <p:sldId id="2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2-26T21:17:40"/>
    </inkml:context>
    <inkml:brush xml:id="br0">
      <inkml:brushProperty name="width" value="0.09701" units="cm"/>
      <inkml:brushProperty name="height" value="0.09701" units="cm"/>
      <inkml:brushProperty name="color" value="#1b7ccb"/>
      <inkml:brushProperty name="ignorePressure" value="0"/>
    </inkml:brush>
  </inkml:definitions>
  <inkml:trace contextRef="#ctx0" brushRef="#br0">17111.521 6169.008 511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3-02T06:04:32"/>
    </inkml:context>
    <inkml:brush xml:id="br0">
      <inkml:brushProperty name="width" value="0.08819" units="cm"/>
      <inkml:brushProperty name="height" value="0.35278" units="cm"/>
      <inkml:brushProperty name="color" value="#000000"/>
      <inkml:brushProperty name="tip" value="rectangle"/>
      <inkml:brushProperty name="rasterOp" value="maskPen"/>
      <inkml:brushProperty name="ignorePressure" value="0"/>
    </inkml:brush>
  </inkml:definitions>
  <inkml:trace contextRef="#ctx0" brushRef="#br0">10741.521 120.000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3-02T06:04:32"/>
    </inkml:context>
    <inkml:brush xml:id="br0">
      <inkml:brushProperty name="width" value="0.08819" units="cm"/>
      <inkml:brushProperty name="height" value="0.35278" units="cm"/>
      <inkml:brushProperty name="color" value="#fff700"/>
      <inkml:brushProperty name="tip" value="rectangle"/>
      <inkml:brushProperty name="rasterOp" value="maskPen"/>
      <inkml:brushProperty name="ignorePressure" value="0"/>
    </inkml:brush>
  </inkml:definitions>
  <inkml:trace contextRef="#ctx0" brushRef="#br0">14417.521 2783.000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3-02T06:04:32"/>
    </inkml:context>
    <inkml:brush xml:id="br0">
      <inkml:brushProperty name="width" value="0.08819" units="cm"/>
      <inkml:brushProperty name="height" value="0.35278" units="cm"/>
      <inkml:brushProperty name="color" value="#1b7ccb"/>
      <inkml:brushProperty name="tip" value="rectangle"/>
      <inkml:brushProperty name="rasterOp" value="maskPen"/>
      <inkml:brushProperty name="ignorePressure" value="0"/>
    </inkml:brush>
  </inkml:definitions>
  <inkml:trace contextRef="#ctx0" brushRef="#br0">19143.521 5776.008,'0.000'10.000,"0.000"18.000,0.000-2.000,0.000 5.000,0.000 23.000,0.000 7.000,-2.000-11.000,-2.000 2.000,-2.000 0.000,-1.000 2.000,-1.000 1.000,-1.000 0.000,-2.000 14.000,-2.000-1.000,5.000-28.000,1.000 0.000,-8.000 33.000,3.000-2.000,4.000-28.000,0.000-1.000,-1.000 4.000,0.000-3.000,0.000 4.000,0.000-3.000,2.000-2.000,0.000-4.000,2.000-6.000,0.000-3.000,0.000-1.000,0.000-3.000,1.000-2.000,0.000-1.000,1.000 0.000,0.000-1.000,1.000-2.000,1.000-2.000,0.000-4.000,0.000-3.000,1.000 2.000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2-26T22:19:15"/>
    </inkml:context>
    <inkml:brush xml:id="br0">
      <inkml:brushProperty name="width" value="0.09701" units="cm"/>
      <inkml:brushProperty name="height" value="0.09701" units="cm"/>
      <inkml:brushProperty name="color" value="#fff700"/>
      <inkml:brushProperty name="ignorePressure" value="0"/>
    </inkml:brush>
  </inkml:definitions>
  <inkml:trace contextRef="#ctx0" brushRef="#br0">11000.000 6700.000 767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2-26T22:25:12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675.000 2372.000 767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5-03-02T06:04:32"/>
    </inkml:context>
    <inkml:brush xml:id="br0">
      <inkml:brushProperty name="width" value="0.0352777777777778" units="cm"/>
      <inkml:brushProperty name="height" value="0.0352777777777778" units="cm"/>
      <inkml:brushProperty name="color" value="#f80600"/>
      <inkml:brushProperty name="ignorePressure" value="0"/>
    </inkml:brush>
  </inkml:definitions>
  <inkml:trace contextRef="#ctx0" brushRef="#br0">4133.000 6675.000,'0.000'0.000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customXml" Target="../ink/ink4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customXml" Target="../ink/ink5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customXml" Target="../ink/ink6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customXml" Target="../ink/ink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372110" y="234315"/>
            <a:ext cx="4648835" cy="64084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843780" y="673100"/>
            <a:ext cx="6983095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 b="1">
                <a:solidFill>
                  <a:srgbClr val="FF0000"/>
                </a:solidFill>
              </a:rPr>
              <a:t>What is electrochemistry ?</a:t>
            </a:r>
            <a:endParaRPr lang="en-US" sz="4400" b="1">
              <a:solidFill>
                <a:srgbClr val="FF0000"/>
              </a:solidFill>
            </a:endParaRPr>
          </a:p>
          <a:p>
            <a:endParaRPr lang="en-US" sz="2800" b="1">
              <a:solidFill>
                <a:srgbClr val="FF0000"/>
              </a:solidFill>
            </a:endParaRPr>
          </a:p>
          <a:p>
            <a:r>
              <a:rPr lang="en-US" sz="3600">
                <a:solidFill>
                  <a:schemeClr val="tx1"/>
                </a:solidFill>
              </a:rPr>
              <a:t>Electrochemistry is the relationship between chemicals and electricity e.g  NaCl is a compound that dissociate to give charges Na</a:t>
            </a:r>
            <a:r>
              <a:rPr lang="en-US" sz="3600" baseline="30000">
                <a:solidFill>
                  <a:schemeClr val="tx1"/>
                </a:solidFill>
              </a:rPr>
              <a:t>+</a:t>
            </a:r>
            <a:r>
              <a:rPr lang="en-US" sz="3600">
                <a:solidFill>
                  <a:schemeClr val="tx1"/>
                </a:solidFill>
              </a:rPr>
              <a:t> and Cl</a:t>
            </a:r>
            <a:r>
              <a:rPr lang="en-US" sz="3600" baseline="30000">
                <a:solidFill>
                  <a:schemeClr val="tx1"/>
                </a:solidFill>
              </a:rPr>
              <a:t>-</a:t>
            </a:r>
            <a:r>
              <a:rPr lang="en-US" sz="3600">
                <a:solidFill>
                  <a:schemeClr val="tx1"/>
                </a:solidFill>
              </a:rPr>
              <a:t> this ion can conduct electrolysis</a:t>
            </a:r>
            <a:endParaRPr lang="en-US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44195" y="593090"/>
            <a:ext cx="3522980" cy="59804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570730" y="955675"/>
            <a:ext cx="6958965" cy="417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 b="1">
                <a:solidFill>
                  <a:srgbClr val="FF0000"/>
                </a:solidFill>
              </a:rPr>
              <a:t>What is electricity?</a:t>
            </a:r>
            <a:endParaRPr lang="en-US" sz="4400" b="1">
              <a:solidFill>
                <a:srgbClr val="FF0000"/>
              </a:solidFill>
            </a:endParaRPr>
          </a:p>
          <a:p>
            <a:endParaRPr lang="en-US" sz="2800"/>
          </a:p>
          <a:p>
            <a:r>
              <a:rPr lang="en-US" sz="3600"/>
              <a:t>Electricity is the continous flow of charges </a:t>
            </a:r>
            <a:r>
              <a:rPr lang="en-US" altLang="en-US" sz="3600"/>
              <a:t>Current electricity: A steady flow of electric charge through a conductor, which powers devices and systems.</a:t>
            </a:r>
            <a:endParaRPr lang="en-US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490220" y="434340"/>
            <a:ext cx="3804285" cy="602170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227320" y="595630"/>
            <a:ext cx="6176645" cy="5570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 b="1">
                <a:solidFill>
                  <a:srgbClr val="C00000"/>
                </a:solidFill>
              </a:rPr>
              <a:t>What is electrolysis?</a:t>
            </a:r>
            <a:endParaRPr lang="en-US" sz="4400" b="1">
              <a:solidFill>
                <a:srgbClr val="C00000"/>
              </a:solidFill>
            </a:endParaRPr>
          </a:p>
          <a:p>
            <a:endParaRPr lang="en-US" sz="3200"/>
          </a:p>
          <a:p>
            <a:pPr>
              <a:lnSpc>
                <a:spcPct val="130000"/>
              </a:lnSpc>
            </a:pPr>
            <a:r>
              <a:rPr lang="en-US" sz="3200"/>
              <a:t>Electrolysis can be defined as the chemical decomposition of a compound in a molten or fused state after the passage of electric current through it.</a:t>
            </a:r>
            <a:endParaRPr lang="en-US" sz="3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5" name="Ink 24"/>
              <p14:cNvContentPartPr/>
              <p14:nvPr/>
            </p14:nvContentPartPr>
            <p14:xfrm>
              <a:off x="10866120" y="3917950"/>
              <a:ext cx="635" cy="635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3"/>
            </p:blipFill>
            <p:spPr>
              <a:xfrm>
                <a:off x="10866120" y="391795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30200" y="857885"/>
            <a:ext cx="4997450" cy="51809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34685" y="857885"/>
            <a:ext cx="5862955" cy="5311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400" b="1">
                <a:solidFill>
                  <a:srgbClr val="FF0000"/>
                </a:solidFill>
              </a:rPr>
              <a:t>What is an electrolyte?</a:t>
            </a:r>
            <a:endParaRPr lang="en-US" sz="4400" b="1">
              <a:solidFill>
                <a:srgbClr val="FF0000"/>
              </a:solidFill>
            </a:endParaRPr>
          </a:p>
          <a:p>
            <a:endParaRPr lang="en-US" sz="3200"/>
          </a:p>
          <a:p>
            <a:r>
              <a:rPr lang="en-US" sz="3200"/>
              <a:t>An electrolyte is a chemical compound which in aqueous solution will conduct electricity or electric current.</a:t>
            </a:r>
            <a:endParaRPr lang="en-US" sz="3200"/>
          </a:p>
          <a:p>
            <a:endParaRPr lang="en-US" sz="3200"/>
          </a:p>
          <a:p>
            <a:r>
              <a:rPr lang="en-US" sz="3200"/>
              <a:t>E.g: NaCl, KOH, H</a:t>
            </a:r>
            <a:r>
              <a:rPr lang="en-US" sz="3200" baseline="-25000"/>
              <a:t>2</a:t>
            </a:r>
            <a:r>
              <a:rPr lang="en-US" sz="3200"/>
              <a:t>SO</a:t>
            </a:r>
            <a:r>
              <a:rPr lang="en-US" sz="3200" baseline="-25000"/>
              <a:t>4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30200" y="857885"/>
            <a:ext cx="4997450" cy="51809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096000" y="858520"/>
            <a:ext cx="5100955" cy="544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>
                <a:solidFill>
                  <a:srgbClr val="C00000"/>
                </a:solidFill>
              </a:rPr>
              <a:t>Strong electrolytes?</a:t>
            </a:r>
            <a:endParaRPr lang="en-US" sz="4000" b="1">
              <a:solidFill>
                <a:srgbClr val="C00000"/>
              </a:solidFill>
            </a:endParaRPr>
          </a:p>
          <a:p>
            <a:endParaRPr lang="en-US" sz="3200"/>
          </a:p>
          <a:p>
            <a:r>
              <a:rPr lang="en-US" sz="3600"/>
              <a:t>These are compounds that ionize completely in aqueous solution.</a:t>
            </a:r>
            <a:endParaRPr lang="en-US" sz="3600"/>
          </a:p>
          <a:p>
            <a:endParaRPr lang="en-US" sz="3600"/>
          </a:p>
          <a:p>
            <a:r>
              <a:rPr lang="en-US" sz="3200"/>
              <a:t>Eg: H</a:t>
            </a:r>
            <a:r>
              <a:rPr lang="en-US" sz="3200" baseline="-25000"/>
              <a:t>2</a:t>
            </a:r>
            <a:r>
              <a:rPr lang="en-US" sz="3200"/>
              <a:t>SO</a:t>
            </a:r>
            <a:r>
              <a:rPr lang="en-US" sz="3200" baseline="-25000"/>
              <a:t>4</a:t>
            </a:r>
            <a:r>
              <a:rPr lang="en-US" sz="3200"/>
              <a:t>, HCl, HNO</a:t>
            </a:r>
            <a:r>
              <a:rPr lang="en-US" sz="3200" baseline="-25000"/>
              <a:t>3</a:t>
            </a:r>
            <a:r>
              <a:rPr lang="en-US" sz="3200"/>
              <a:t>, NaOH, KOH, NaCl, NH</a:t>
            </a:r>
            <a:r>
              <a:rPr lang="en-US" sz="3200" baseline="-25000"/>
              <a:t>4</a:t>
            </a:r>
            <a:r>
              <a:rPr lang="en-US" sz="3200"/>
              <a:t>Cl, K</a:t>
            </a:r>
            <a:r>
              <a:rPr lang="en-US" sz="3200" baseline="-25000"/>
              <a:t>2</a:t>
            </a:r>
            <a:r>
              <a:rPr lang="en-US" sz="3200"/>
              <a:t>SO</a:t>
            </a:r>
            <a:r>
              <a:rPr lang="en-US" sz="3200" baseline="-25000"/>
              <a:t>4</a:t>
            </a:r>
            <a:r>
              <a:rPr lang="en-US" sz="3200"/>
              <a:t> </a:t>
            </a:r>
            <a:endParaRPr lang="en-US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30200" y="873760"/>
            <a:ext cx="4997450" cy="51809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328285" y="933450"/>
            <a:ext cx="6495415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rgbClr val="FF0000"/>
                </a:solidFill>
              </a:rPr>
              <a:t>Weak electrolytes</a:t>
            </a:r>
            <a:endParaRPr lang="en-US" sz="4000" b="1">
              <a:solidFill>
                <a:srgbClr val="FF0000"/>
              </a:solidFill>
            </a:endParaRPr>
          </a:p>
          <a:p>
            <a:endParaRPr lang="en-US" sz="2800"/>
          </a:p>
          <a:p>
            <a:r>
              <a:rPr lang="en-US" sz="3200"/>
              <a:t>Weak electrolytes:</a:t>
            </a:r>
            <a:r>
              <a:rPr lang="en-US" altLang="en-US" sz="3200"/>
              <a:t>A weak electrolyte is a substance that only partially ionizes in solution, producing a small number of ions alongside many un-ionized molecules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Eg: Acetic acid(CH</a:t>
            </a:r>
            <a:r>
              <a:rPr lang="en-US" altLang="en-US" sz="3200" baseline="-25000"/>
              <a:t>3</a:t>
            </a:r>
            <a:r>
              <a:rPr lang="en-US" altLang="en-US" sz="3200"/>
              <a:t>COOH)</a:t>
            </a:r>
            <a:endParaRPr lang="en-US" altLang="en-US" sz="3200"/>
          </a:p>
          <a:p>
            <a:r>
              <a:rPr lang="en-US" altLang="en-US" sz="3200"/>
              <a:t>       Ammonium hydroxide(NH4OH)</a:t>
            </a:r>
            <a:endParaRPr lang="en-US" altLang="en-US" sz="3200"/>
          </a:p>
          <a:p>
            <a:r>
              <a:rPr lang="en-US" altLang="en-US" sz="3200"/>
              <a:t>       Carbonic acid(H</a:t>
            </a:r>
            <a:r>
              <a:rPr lang="en-US" altLang="en-US" sz="3200" baseline="-25000"/>
              <a:t>2</a:t>
            </a:r>
            <a:r>
              <a:rPr lang="en-US" altLang="en-US" sz="3200"/>
              <a:t>CO</a:t>
            </a:r>
            <a:r>
              <a:rPr lang="en-US" altLang="en-US" sz="3200" baseline="-25000"/>
              <a:t>3</a:t>
            </a:r>
            <a:r>
              <a:rPr lang="en-US" altLang="en-US" sz="3200"/>
              <a:t>)</a:t>
            </a:r>
            <a:endParaRPr lang="en-US" alt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6095365" y="499110"/>
            <a:ext cx="5263515" cy="5873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>
                <a:solidFill>
                  <a:srgbClr val="C00000"/>
                </a:solidFill>
              </a:rPr>
              <a:t>What are electrodes?</a:t>
            </a:r>
            <a:endParaRPr lang="en-US" sz="4000" b="1">
              <a:solidFill>
                <a:srgbClr val="C00000"/>
              </a:solidFill>
            </a:endParaRPr>
          </a:p>
          <a:p>
            <a:endParaRPr lang="en-US" sz="2800"/>
          </a:p>
          <a:p>
            <a:r>
              <a:rPr lang="en-US" sz="3200"/>
              <a:t>Electrodes are metal plates or conductors in the forms of wires or rods through which and electric current enters or leaves the electrolytes.</a:t>
            </a:r>
            <a:endParaRPr lang="en-US" sz="3200"/>
          </a:p>
          <a:p>
            <a:endParaRPr lang="en-US" sz="3200"/>
          </a:p>
          <a:p>
            <a:r>
              <a:rPr lang="en-US" sz="3200"/>
              <a:t>They are either anode (+ve) or cathode(-ve)</a:t>
            </a:r>
            <a:endParaRPr lang="en-US" sz="320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28905" y="189230"/>
            <a:ext cx="5742940" cy="6369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5764530" y="1351915"/>
            <a:ext cx="4860925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rgbClr val="C00000"/>
                </a:solidFill>
              </a:rPr>
              <a:t>What is an anode?</a:t>
            </a:r>
            <a:endParaRPr lang="en-US" sz="4000" b="1">
              <a:solidFill>
                <a:srgbClr val="C00000"/>
              </a:solidFill>
            </a:endParaRPr>
          </a:p>
          <a:p>
            <a:endParaRPr lang="en-US" sz="3200"/>
          </a:p>
          <a:p>
            <a:r>
              <a:rPr lang="en-US" sz="3200"/>
              <a:t>An anode is the positive electrode through which current enters the electrolytes or electrons leaves an electrolyte.</a:t>
            </a:r>
            <a:endParaRPr lang="en-US" sz="320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4699635" cy="5753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Ink 10"/>
              <p14:cNvContentPartPr/>
              <p14:nvPr/>
            </p14:nvContentPartPr>
            <p14:xfrm>
              <a:off x="6821170" y="76835"/>
              <a:ext cx="635" cy="635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3"/>
            </p:blipFill>
            <p:spPr>
              <a:xfrm>
                <a:off x="6821170" y="7683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60655" y="914400"/>
            <a:ext cx="4699635" cy="57531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082030" y="1011555"/>
            <a:ext cx="4064000" cy="4841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>
                <a:solidFill>
                  <a:srgbClr val="C00000"/>
                </a:solidFill>
              </a:rPr>
              <a:t>What is a cathode?</a:t>
            </a:r>
            <a:endParaRPr lang="en-US" sz="4000" b="1">
              <a:solidFill>
                <a:srgbClr val="C00000"/>
              </a:solidFill>
            </a:endParaRPr>
          </a:p>
          <a:p>
            <a:endParaRPr lang="en-US" sz="3200"/>
          </a:p>
          <a:p>
            <a:r>
              <a:rPr lang="en-US" sz="3200"/>
              <a:t>Cathode is the negative electrode through which current leaves the electrolytes or electrons enters an electrolyte.</a:t>
            </a:r>
            <a:endParaRPr lang="en-US" sz="3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2" name="Ink 21"/>
              <p14:cNvContentPartPr/>
              <p14:nvPr/>
            </p14:nvContentPartPr>
            <p14:xfrm>
              <a:off x="9155430" y="1767840"/>
              <a:ext cx="635" cy="635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"/>
            </p:blipFill>
            <p:spPr>
              <a:xfrm>
                <a:off x="9155430" y="176784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2098675" y="2609850"/>
            <a:ext cx="777494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Calculations</a:t>
            </a:r>
            <a:endParaRPr lang="en-US" altLang="zh-CN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745490" y="477520"/>
            <a:ext cx="9666605" cy="609473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6772910" y="1260475"/>
            <a:ext cx="1529715" cy="3283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7" name="Ink 16"/>
              <p14:cNvContentPartPr/>
              <p14:nvPr/>
            </p14:nvContentPartPr>
            <p14:xfrm>
              <a:off x="12024995" y="3668395"/>
              <a:ext cx="132080" cy="957580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3"/>
            </p:blipFill>
            <p:spPr>
              <a:xfrm>
                <a:off x="12024995" y="3668395"/>
                <a:ext cx="132080" cy="9575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11985" y="71755"/>
            <a:ext cx="5896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 b="1">
                <a:solidFill>
                  <a:srgbClr val="FF0000"/>
                </a:solidFill>
              </a:rPr>
              <a:t>TIME CONVERSION 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8145" y="655320"/>
            <a:ext cx="1074039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60seconds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→ 1minute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ym typeface="+mn-ea"/>
              </a:rPr>
              <a:t>60minutes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 1hour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To convert minutes to seconds, multiply by 60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To conver hours to seconds, multilply by 60 x 60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e.g convert 30minutes to seconds 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30 x 60 = 1800seconds 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e.g convert 2 hours to secdonds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2 x 60 x 60 = 7200seconds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09725" y="1579245"/>
            <a:ext cx="7967980" cy="2276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8000" b="1">
                <a:solidFill>
                  <a:srgbClr val="FF0000"/>
                </a:solidFill>
              </a:rPr>
              <a:t>Try 1</a:t>
            </a:r>
            <a:endParaRPr lang="en-US" sz="4000"/>
          </a:p>
          <a:p>
            <a:endParaRPr lang="en-US"/>
          </a:p>
          <a:p>
            <a:r>
              <a:rPr lang="en-US" sz="4400">
                <a:solidFill>
                  <a:schemeClr val="tx1"/>
                </a:solidFill>
              </a:rPr>
              <a:t>convert 45minutes to seconds </a:t>
            </a:r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55750" y="4619625"/>
            <a:ext cx="5603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0" b="1"/>
              <a:t>45 X 60 = 2700</a:t>
            </a:r>
            <a:endParaRPr lang="en-US" sz="6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78560" y="1117600"/>
            <a:ext cx="85902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8000" b="1">
                <a:solidFill>
                  <a:srgbClr val="FF0000"/>
                </a:solidFill>
                <a:sym typeface="+mn-ea"/>
              </a:rPr>
              <a:t>Try 2</a:t>
            </a:r>
            <a:endParaRPr lang="en-US" sz="8000"/>
          </a:p>
          <a:p>
            <a:pPr algn="l"/>
            <a:endParaRPr lang="en-US"/>
          </a:p>
          <a:p>
            <a:pPr algn="l"/>
            <a:r>
              <a:rPr lang="en-US" sz="5400">
                <a:sym typeface="+mn-ea"/>
              </a:rPr>
              <a:t>convert 24 hours to seconds</a:t>
            </a:r>
            <a:r>
              <a:rPr lang="en-US" sz="1600">
                <a:sym typeface="+mn-ea"/>
              </a:rPr>
              <a:t> </a:t>
            </a:r>
            <a:endParaRPr lang="en-US" sz="1600">
              <a:solidFill>
                <a:schemeClr val="tx1"/>
              </a:solidFill>
            </a:endParaRPr>
          </a:p>
          <a:p>
            <a:pPr algn="l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81250" y="4359910"/>
            <a:ext cx="57683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/>
              <a:t>24 X 60 X 60 = 86400s</a:t>
            </a:r>
            <a:endParaRPr lang="en-US" sz="4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52525" y="1537335"/>
            <a:ext cx="95351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5400" b="1">
                <a:solidFill>
                  <a:srgbClr val="FF0000"/>
                </a:solidFill>
                <a:sym typeface="+mn-ea"/>
              </a:rPr>
              <a:t>Try 3</a:t>
            </a:r>
            <a:endParaRPr lang="en-US" sz="5400"/>
          </a:p>
          <a:p>
            <a:endParaRPr lang="en-US"/>
          </a:p>
          <a:p>
            <a:r>
              <a:rPr lang="en-US" sz="4800" b="1">
                <a:sym typeface="+mn-ea"/>
              </a:rPr>
              <a:t>convert 1 hour 45minutes to seconds</a:t>
            </a:r>
            <a:r>
              <a:rPr lang="en-US" sz="4000" b="1">
                <a:sym typeface="+mn-ea"/>
              </a:rPr>
              <a:t> </a:t>
            </a:r>
            <a:endParaRPr lang="en-US" sz="4000" b="1">
              <a:solidFill>
                <a:schemeClr val="tx1"/>
              </a:solidFill>
            </a:endParaRPr>
          </a:p>
          <a:p>
            <a:endParaRPr lang="en-US" sz="4000" b="1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28545" y="3947160"/>
            <a:ext cx="5989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1 x 60 x 60 + 45 x 60 = 6300s</a:t>
            </a:r>
            <a:endParaRPr lang="en-US" sz="3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598295" y="675005"/>
            <a:ext cx="1007300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Convert hour to seconds first</a:t>
            </a:r>
            <a:r>
              <a:rPr lang="en-US" sz="3200"/>
              <a:t> </a:t>
            </a:r>
            <a:endParaRPr lang="en-US" sz="3200"/>
          </a:p>
          <a:p>
            <a:endParaRPr lang="en-US" sz="3200"/>
          </a:p>
          <a:p>
            <a:r>
              <a:rPr lang="en-US" sz="3200"/>
              <a:t>1 x 60 x 60 = 3600</a:t>
            </a:r>
            <a:endParaRPr lang="en-US" sz="3200"/>
          </a:p>
          <a:p>
            <a:endParaRPr lang="en-US" sz="3200"/>
          </a:p>
          <a:p>
            <a:r>
              <a:rPr lang="en-US" sz="3600" b="1"/>
              <a:t>Convert minutes to seconds next </a:t>
            </a:r>
            <a:endParaRPr lang="en-US" sz="3600" b="1"/>
          </a:p>
          <a:p>
            <a:endParaRPr lang="en-US" sz="3200"/>
          </a:p>
          <a:p>
            <a:r>
              <a:rPr lang="en-US" sz="3200"/>
              <a:t>45 x 60 = 2700</a:t>
            </a:r>
            <a:endParaRPr lang="en-US" sz="3200"/>
          </a:p>
          <a:p>
            <a:endParaRPr lang="en-US" sz="3200"/>
          </a:p>
          <a:p>
            <a:r>
              <a:rPr lang="en-US" sz="3200"/>
              <a:t>add everything togther</a:t>
            </a:r>
            <a:endParaRPr lang="en-US" sz="3200"/>
          </a:p>
          <a:p>
            <a:endParaRPr lang="en-US" sz="3200"/>
          </a:p>
          <a:p>
            <a:r>
              <a:rPr lang="en-US" sz="3200"/>
              <a:t>3600 + 2700 = 6300seconds</a:t>
            </a:r>
            <a:endParaRPr 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3"/>
              <p:cNvSpPr txBox="1"/>
              <p:nvPr/>
            </p:nvSpPr>
            <p:spPr>
              <a:xfrm>
                <a:off x="676275" y="135890"/>
                <a:ext cx="9959340" cy="6462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sz="3600">
                    <a:solidFill>
                      <a:srgbClr val="FF0000"/>
                    </a:solidFill>
                  </a:rPr>
                  <a:t>Q = I X T</a:t>
                </a:r>
                <a:endParaRPr lang="en-US" sz="3600">
                  <a:solidFill>
                    <a:srgbClr val="FF0000"/>
                  </a:solidFill>
                </a:endParaRPr>
              </a:p>
              <a:p>
                <a:pPr algn="l"/>
                <a:endParaRPr lang="en-US" sz="4400">
                  <a:solidFill>
                    <a:srgbClr val="FF0000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 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num>
                        <m:den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 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4400">
                  <a:solidFill>
                    <a:srgbClr val="FF0000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g = mass                  </a:t>
                </a:r>
                <a:endParaRPr lang="en-US" sz="360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I = current </a:t>
                </a:r>
                <a:endParaRPr lang="en-US" sz="360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m.m = molar mass</a:t>
                </a:r>
                <a:endParaRPr lang="en-US" sz="360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T = Time </a:t>
                </a:r>
                <a:endParaRPr lang="en-US" sz="360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n = no of ion discharged</a:t>
                </a:r>
                <a:endParaRPr lang="en-US" sz="360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F = number of faraday </a:t>
                </a:r>
                <a:endParaRPr lang="en-US" sz="360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sz="3600">
                    <a:solidFill>
                      <a:schemeClr val="tx1"/>
                    </a:solidFill>
                  </a:rPr>
                  <a:t>number of faraday = 96500C</a:t>
                </a:r>
                <a:endParaRPr lang="en-US" sz="36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5" y="135890"/>
                <a:ext cx="9959340" cy="646239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03935" y="520700"/>
            <a:ext cx="9514205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FF0000"/>
                </a:solidFill>
              </a:rPr>
              <a:t>PTS/JAMB/WAEC QUESTION </a:t>
            </a:r>
            <a:endParaRPr lang="en-US" sz="3200" b="1">
              <a:solidFill>
                <a:srgbClr val="FF0000"/>
              </a:solidFill>
            </a:endParaRPr>
          </a:p>
          <a:p>
            <a:endParaRPr lang="en-US" altLang="en-US" sz="2000"/>
          </a:p>
          <a:p>
            <a:r>
              <a:rPr lang="en-US" altLang="en-US" sz="3200"/>
              <a:t>During the electrolysis of copper(II) sulfate solution using copper electrodes, a current of 2.5 A was passed for 1800seconds. Calculate the mass of copper deposited on the cathode. (Faraday’s constant = 96500 C/mol, Molar mass of copper = 63.5 g/mol)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A) 0.49 g</a:t>
            </a:r>
            <a:endParaRPr lang="en-US" altLang="en-US" sz="3200"/>
          </a:p>
          <a:p>
            <a:r>
              <a:rPr lang="en-US" altLang="en-US" sz="3200"/>
              <a:t>B) 1.58 g</a:t>
            </a:r>
            <a:endParaRPr lang="en-US" altLang="en-US" sz="3200"/>
          </a:p>
          <a:p>
            <a:r>
              <a:rPr lang="en-US" altLang="en-US" sz="3200"/>
              <a:t>C) 2.46 g</a:t>
            </a:r>
            <a:endParaRPr lang="en-US" altLang="en-US" sz="3200"/>
          </a:p>
          <a:p>
            <a:r>
              <a:rPr lang="en-US" altLang="en-US" sz="3200"/>
              <a:t>D) 3.18 g</a:t>
            </a:r>
            <a:endParaRPr lang="en-US" altLang="en-US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96925" y="623570"/>
            <a:ext cx="509968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FF0000"/>
                </a:solidFill>
              </a:rPr>
              <a:t>STEP 1</a:t>
            </a:r>
            <a:endParaRPr lang="en-US" sz="3200"/>
          </a:p>
          <a:p>
            <a:endParaRPr lang="en-US" sz="3200"/>
          </a:p>
          <a:p>
            <a:r>
              <a:rPr lang="en-US" sz="3600"/>
              <a:t>g = ?</a:t>
            </a:r>
            <a:endParaRPr lang="en-US" sz="3600"/>
          </a:p>
          <a:p>
            <a:r>
              <a:rPr lang="en-US" sz="3600"/>
              <a:t>m.m =63.5 </a:t>
            </a:r>
            <a:endParaRPr lang="en-US" sz="3600"/>
          </a:p>
          <a:p>
            <a:r>
              <a:rPr lang="en-US" sz="3600"/>
              <a:t>T = 1800</a:t>
            </a:r>
            <a:endParaRPr lang="en-US" sz="3600"/>
          </a:p>
          <a:p>
            <a:r>
              <a:rPr lang="en-US" sz="3600"/>
              <a:t>I = 2.5</a:t>
            </a:r>
            <a:endParaRPr lang="en-US" sz="3600"/>
          </a:p>
          <a:p>
            <a:r>
              <a:rPr lang="en-US" sz="3600"/>
              <a:t>f = 96500</a:t>
            </a:r>
            <a:endParaRPr lang="en-US" sz="3600"/>
          </a:p>
          <a:p>
            <a:r>
              <a:rPr lang="en-US" sz="3600"/>
              <a:t>n = 2</a:t>
            </a:r>
            <a:endParaRPr lang="en-US" sz="3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5115560" y="623570"/>
                <a:ext cx="6342380" cy="51803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sz="3200" b="1">
                    <a:solidFill>
                      <a:srgbClr val="FF0000"/>
                    </a:solidFill>
                  </a:rPr>
                  <a:t>STEP 2</a:t>
                </a:r>
                <a:endParaRPr lang="en-US" sz="3200"/>
              </a:p>
              <a:p>
                <a:endParaRPr lang="en-US" sz="32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3200">
                  <a:solidFill>
                    <a:schemeClr val="tx1"/>
                  </a:solidFill>
                </a:endParaRPr>
              </a:p>
              <a:p>
                <a:endParaRPr lang="en-US" sz="360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3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5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1800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63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5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</m:den>
                      </m:f>
                    </m:oMath>
                  </m:oMathPara>
                </a14:m>
                <a:endParaRPr lang="en-US" sz="36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560" y="623570"/>
                <a:ext cx="6342380" cy="51803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6"/>
          <p:cNvSpPr txBox="1"/>
          <p:nvPr/>
        </p:nvSpPr>
        <p:spPr>
          <a:xfrm>
            <a:off x="4605655" y="5023485"/>
            <a:ext cx="5561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5400" b="1">
                <a:solidFill>
                  <a:srgbClr val="FF0000"/>
                </a:solidFill>
              </a:rPr>
              <a:t>1.48</a:t>
            </a:r>
            <a:r>
              <a:rPr lang="en-US" altLang="en-US" sz="5400" b="1">
                <a:solidFill>
                  <a:srgbClr val="FF0000"/>
                </a:solidFill>
              </a:rPr>
              <a:t> </a:t>
            </a:r>
            <a:r>
              <a:rPr lang="en-US" altLang="en-US" sz="5400" b="1">
                <a:solidFill>
                  <a:srgbClr val="FF0000"/>
                </a:solidFill>
              </a:rPr>
              <a:t>g</a:t>
            </a:r>
            <a:endParaRPr lang="en-US" altLang="en-US" sz="5400"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7" name="Ink 26"/>
              <p14:cNvContentPartPr/>
              <p14:nvPr/>
            </p14:nvContentPartPr>
            <p14:xfrm>
              <a:off x="6985000" y="4254500"/>
              <a:ext cx="635" cy="635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3"/>
            </p:blipFill>
            <p:spPr>
              <a:xfrm>
                <a:off x="6985000" y="425450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42670" y="627380"/>
            <a:ext cx="9702165" cy="5292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solidFill>
                  <a:srgbClr val="FF0000"/>
                </a:solidFill>
              </a:rPr>
              <a:t>PTS/JAMB/WAEC Question</a:t>
            </a:r>
            <a:endParaRPr lang="en-US" altLang="en-US"/>
          </a:p>
          <a:p>
            <a:endParaRPr lang="en-US" altLang="en-US"/>
          </a:p>
          <a:p>
            <a:r>
              <a:rPr lang="en-US" altLang="en-US" sz="3200"/>
              <a:t>A current of 3 A is passed through a solution of silver nitrate (AgNO₃) for 50 minutes. Calculate the mass of silver deposited at the cathode. (Faraday’s constant = 96500 C/mol, Molar mass of silver = 108 g/mol)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A) 4.2 g</a:t>
            </a:r>
            <a:endParaRPr lang="en-US" altLang="en-US" sz="3200"/>
          </a:p>
          <a:p>
            <a:r>
              <a:rPr lang="en-US" altLang="en-US" sz="3200"/>
              <a:t>B) 5.0 g</a:t>
            </a:r>
            <a:endParaRPr lang="en-US" altLang="en-US" sz="3200"/>
          </a:p>
          <a:p>
            <a:r>
              <a:rPr lang="en-US" altLang="en-US" sz="3200"/>
              <a:t>C) 10.1 g</a:t>
            </a:r>
            <a:endParaRPr lang="en-US" altLang="en-US" sz="3200"/>
          </a:p>
          <a:p>
            <a:r>
              <a:rPr lang="en-US" altLang="en-US" sz="3200"/>
              <a:t>D) 8.4 g</a:t>
            </a:r>
            <a:endParaRPr lang="en-US" altLang="en-US"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90220" y="504825"/>
            <a:ext cx="4956810" cy="5446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 b="1">
                <a:solidFill>
                  <a:srgbClr val="FF0000"/>
                </a:solidFill>
              </a:rPr>
              <a:t>STEP 1</a:t>
            </a:r>
            <a:endParaRPr lang="en-US" sz="3600" b="1">
              <a:solidFill>
                <a:srgbClr val="FF0000"/>
              </a:solidFill>
            </a:endParaRPr>
          </a:p>
          <a:p>
            <a:endParaRPr lang="en-US" sz="3200" b="1">
              <a:solidFill>
                <a:srgbClr val="FF0000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I = 3A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T = 50 X 60 = 3000seconds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M.M = 108</a:t>
            </a:r>
            <a:endParaRPr lang="en-US" sz="3200">
              <a:solidFill>
                <a:schemeClr val="tx1"/>
              </a:solidFill>
            </a:endParaRPr>
          </a:p>
          <a:p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F = 96500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n = 1</a:t>
            </a:r>
            <a:endParaRPr lang="en-US" sz="3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6433820" y="621030"/>
                <a:ext cx="4148455" cy="40430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sz="3200" b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STEP 2</a:t>
                </a:r>
                <a:endParaRPr lang="en-US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/>
              </a:p>
              <a:p>
                <a:endParaRPr lang="en-US" sz="2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chemeClr val="tx1"/>
                  </a:solidFill>
                </a:endParaRPr>
              </a:p>
              <a:p>
                <a:endParaRPr lang="en-US" sz="240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3000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108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</m:den>
                      </m:f>
                    </m:oMath>
                  </m:oMathPara>
                </a14:m>
                <a:endParaRPr lang="en-US" sz="2400"/>
              </a:p>
              <a:p>
                <a:endParaRPr lang="en-US" sz="2400">
                  <a:solidFill>
                    <a:schemeClr val="tx1"/>
                  </a:solidFill>
                </a:endParaRPr>
              </a:p>
              <a:p>
                <a:endParaRPr lang="en-US" sz="240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972000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</m:den>
                      </m:f>
                    </m:oMath>
                  </m:oMathPara>
                </a14:m>
                <a:endParaRPr lang="en-US" sz="2400"/>
              </a:p>
              <a:p>
                <a:endParaRPr lang="en-US" sz="2400"/>
              </a:p>
              <a:p>
                <a:r>
                  <a:rPr lang="en-US" sz="2400"/>
                  <a:t>= 10.07  = 10.1g</a:t>
                </a:r>
                <a:endParaRPr lang="en-US" sz="2400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820" y="621030"/>
                <a:ext cx="4148455" cy="4043045"/>
              </a:xfrm>
              <a:prstGeom prst="rect">
                <a:avLst/>
              </a:prstGeom>
              <a:blipFill rotWithShape="1">
                <a:blip r:embed="rId1"/>
                <a:stretch>
                  <a:fillRect b="-858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Ink 2"/>
              <p14:cNvContentPartPr/>
              <p14:nvPr/>
            </p14:nvContentPartPr>
            <p14:xfrm>
              <a:off x="428625" y="1506220"/>
              <a:ext cx="635" cy="635"/>
            </p14:xfrm>
          </p:contentPart>
        </mc:Choice>
        <mc:Fallback xmlns="">
          <p:pic>
            <p:nvPicPr>
              <p:cNvPr id="3" name="Ink 2"/>
            </p:nvPicPr>
            <p:blipFill>
              <a:blip r:embed="rId3"/>
            </p:blipFill>
            <p:spPr>
              <a:xfrm>
                <a:off x="428625" y="150622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68020" y="407670"/>
            <a:ext cx="10502265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 b="1">
                <a:solidFill>
                  <a:srgbClr val="FF0000"/>
                </a:solidFill>
              </a:rPr>
              <a:t>TRY</a:t>
            </a:r>
            <a:endParaRPr lang="en-US"/>
          </a:p>
          <a:p>
            <a:endParaRPr lang="en-US"/>
          </a:p>
          <a:p>
            <a:r>
              <a:rPr lang="en-US" sz="3200"/>
              <a:t>When Titanum chloride was electrolysed by passing 0.12A current through the solution for 500seconds, 0.015g of Titanum was deposited. What is the charge on Tinanum ion(F = 96500C, Ti = 48.0)</a:t>
            </a:r>
            <a:endParaRPr lang="en-US" sz="3200"/>
          </a:p>
          <a:p>
            <a:endParaRPr lang="en-US" sz="3200"/>
          </a:p>
          <a:p>
            <a:r>
              <a:rPr lang="en-US" sz="3200"/>
              <a:t>A. 60</a:t>
            </a:r>
            <a:endParaRPr lang="en-US" sz="3200"/>
          </a:p>
          <a:p>
            <a:r>
              <a:rPr lang="en-US" sz="3200"/>
              <a:t>B. 2</a:t>
            </a:r>
            <a:endParaRPr lang="en-US" sz="3200"/>
          </a:p>
          <a:p>
            <a:r>
              <a:rPr lang="en-US" sz="3200"/>
              <a:t>C. 30</a:t>
            </a:r>
            <a:endParaRPr lang="en-US" sz="3200"/>
          </a:p>
          <a:p>
            <a:r>
              <a:rPr lang="en-US" sz="3200"/>
              <a:t>D. 1.05</a:t>
            </a:r>
            <a:endParaRPr lang="en-US" sz="3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Ink 2"/>
              <p14:cNvContentPartPr/>
              <p14:nvPr/>
            </p14:nvContentPartPr>
            <p14:xfrm>
              <a:off x="2624455" y="4238625"/>
              <a:ext cx="635" cy="635"/>
            </p14:xfrm>
          </p:contentPart>
        </mc:Choice>
        <mc:Fallback xmlns="">
          <p:pic>
            <p:nvPicPr>
              <p:cNvPr id="3" name="Ink 2"/>
            </p:nvPicPr>
            <p:blipFill>
              <a:blip r:embed="rId2"/>
            </p:blipFill>
            <p:spPr>
              <a:xfrm>
                <a:off x="2624455" y="423862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56590" y="621030"/>
            <a:ext cx="637921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rgbClr val="FF0000"/>
                </a:solidFill>
                <a:sym typeface="+mn-ea"/>
              </a:rPr>
              <a:t>STEP 1</a:t>
            </a:r>
            <a:endParaRPr lang="en-US" sz="4000" b="1">
              <a:solidFill>
                <a:srgbClr val="FF0000"/>
              </a:solidFill>
            </a:endParaRPr>
          </a:p>
          <a:p>
            <a:endParaRPr lang="en-US" sz="4000" b="1">
              <a:solidFill>
                <a:srgbClr val="FF0000"/>
              </a:solidFill>
            </a:endParaRPr>
          </a:p>
          <a:p>
            <a:r>
              <a:rPr lang="en-US" sz="4000">
                <a:sym typeface="+mn-ea"/>
              </a:rPr>
              <a:t>I = 0.12A</a:t>
            </a:r>
            <a:endParaRPr lang="en-US" sz="4000">
              <a:solidFill>
                <a:schemeClr val="tx1"/>
              </a:solidFill>
            </a:endParaRPr>
          </a:p>
          <a:p>
            <a:r>
              <a:rPr lang="en-US" sz="4000">
                <a:sym typeface="+mn-ea"/>
              </a:rPr>
              <a:t>T = 500seconds</a:t>
            </a:r>
            <a:endParaRPr lang="en-US" sz="4000">
              <a:solidFill>
                <a:schemeClr val="tx1"/>
              </a:solidFill>
            </a:endParaRPr>
          </a:p>
          <a:p>
            <a:r>
              <a:rPr lang="en-US" sz="4000">
                <a:sym typeface="+mn-ea"/>
              </a:rPr>
              <a:t>M.M = 48</a:t>
            </a:r>
            <a:endParaRPr lang="en-US" sz="4000">
              <a:solidFill>
                <a:schemeClr val="tx1"/>
              </a:solidFill>
            </a:endParaRPr>
          </a:p>
          <a:p>
            <a:endParaRPr lang="en-US" sz="4000">
              <a:solidFill>
                <a:schemeClr val="tx1"/>
              </a:solidFill>
            </a:endParaRPr>
          </a:p>
          <a:p>
            <a:r>
              <a:rPr lang="en-US" sz="4000">
                <a:sym typeface="+mn-ea"/>
              </a:rPr>
              <a:t>F = 96500</a:t>
            </a:r>
            <a:endParaRPr lang="en-US" sz="4000">
              <a:solidFill>
                <a:schemeClr val="tx1"/>
              </a:solidFill>
            </a:endParaRPr>
          </a:p>
          <a:p>
            <a:r>
              <a:rPr lang="en-US" sz="4000">
                <a:sym typeface="+mn-ea"/>
              </a:rPr>
              <a:t>n = ?</a:t>
            </a:r>
            <a:endParaRPr lang="en-US" sz="40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4529455" y="394970"/>
                <a:ext cx="7543165" cy="108407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90000"/>
                  </a:lnSpc>
                </a:pPr>
                <a:r>
                  <a:rPr lang="en-US" sz="3200" b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STEP 2</a:t>
                </a:r>
                <a:endParaRPr lang="en-US" sz="32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32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32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32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015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00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 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</m:den>
                      </m:f>
                    </m:oMath>
                  </m:oMathPara>
                </a14:m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32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015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2880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r>
                  <a:rPr lang="en-US" sz="3200">
                    <a:sym typeface="+mn-ea"/>
                  </a:rPr>
                  <a:t>= 1.99 = 2</a:t>
                </a: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  <a:p>
                <a:pPr>
                  <a:lnSpc>
                    <a:spcPct val="90000"/>
                  </a:lnSpc>
                </a:pPr>
                <a:endParaRPr lang="en-US" sz="3200"/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455" y="394970"/>
                <a:ext cx="7543165" cy="108407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47190" y="627380"/>
            <a:ext cx="769429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>
                <a:solidFill>
                  <a:srgbClr val="FF0000"/>
                </a:solidFill>
              </a:rPr>
              <a:t>TRY</a:t>
            </a:r>
            <a:endParaRPr lang="en-US" sz="3200"/>
          </a:p>
          <a:p>
            <a:endParaRPr lang="en-US" sz="3200"/>
          </a:p>
          <a:p>
            <a:r>
              <a:rPr lang="en-US" sz="3200"/>
              <a:t>How many columbs of electricity would liberate 1.08g of Ag from a solution of silver salt (Ag = 108.0, F = 96500C)</a:t>
            </a:r>
            <a:endParaRPr lang="en-US" sz="3200"/>
          </a:p>
          <a:p>
            <a:endParaRPr lang="en-US" sz="3200"/>
          </a:p>
          <a:p>
            <a:r>
              <a:rPr lang="en-US" sz="3200"/>
              <a:t>A. 96500c</a:t>
            </a:r>
            <a:endParaRPr lang="en-US" sz="3200"/>
          </a:p>
          <a:p>
            <a:r>
              <a:rPr lang="en-US" sz="3200"/>
              <a:t>B. 9650C</a:t>
            </a:r>
            <a:endParaRPr lang="en-US" sz="3200"/>
          </a:p>
          <a:p>
            <a:r>
              <a:rPr lang="en-US" sz="3200"/>
              <a:t>C. 965C</a:t>
            </a:r>
            <a:endParaRPr lang="en-US" sz="3200"/>
          </a:p>
          <a:p>
            <a:r>
              <a:rPr lang="en-US" sz="3200"/>
              <a:t>D. 9.65C</a:t>
            </a:r>
            <a:endParaRPr 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69290" y="570865"/>
            <a:ext cx="4072255" cy="5808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 b="1">
                <a:solidFill>
                  <a:srgbClr val="FF0000"/>
                </a:solidFill>
                <a:sym typeface="+mn-ea"/>
              </a:rPr>
              <a:t>STEP 1</a:t>
            </a:r>
            <a:endParaRPr lang="en-US" sz="3600" b="1">
              <a:solidFill>
                <a:srgbClr val="FF0000"/>
              </a:solidFill>
            </a:endParaRP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Q = I x T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Q = ?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g = 1.08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ym typeface="+mn-ea"/>
              </a:rPr>
              <a:t>M.M = 108</a:t>
            </a:r>
            <a:endParaRPr lang="en-US" sz="3200">
              <a:solidFill>
                <a:schemeClr val="tx1"/>
              </a:solidFill>
            </a:endParaRPr>
          </a:p>
          <a:p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ym typeface="+mn-ea"/>
              </a:rPr>
              <a:t>F = 96500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ym typeface="+mn-ea"/>
              </a:rPr>
              <a:t>n = 1</a:t>
            </a:r>
            <a:endParaRPr lang="en-US" sz="32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5697855" y="275590"/>
                <a:ext cx="6092190" cy="9211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90000"/>
                  </a:lnSpc>
                </a:pPr>
                <a:r>
                  <a:rPr lang="en-US" sz="2400" b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STEP 2</a:t>
                </a:r>
                <a:endParaRPr lang="en-US" sz="2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2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24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4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24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08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108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× 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</m:den>
                      </m:f>
                    </m:oMath>
                  </m:oMathPara>
                </a14:m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2400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08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108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96500</m:t>
                          </m:r>
                        </m:den>
                      </m:f>
                    </m:oMath>
                  </m:oMathPara>
                </a14:m>
                <a:endParaRPr lang="en-US" sz="2400"/>
              </a:p>
              <a:p>
                <a:pPr>
                  <a:lnSpc>
                    <a:spcPct val="90000"/>
                  </a:lnSpc>
                </a:pPr>
                <a:r>
                  <a:rPr lang="en-US" sz="2400"/>
                  <a:t>108Q = 1.08 x 96500</a:t>
                </a:r>
                <a:endParaRPr lang="en-US" sz="2400"/>
              </a:p>
              <a:p>
                <a:pPr>
                  <a:lnSpc>
                    <a:spcPct val="90000"/>
                  </a:lnSpc>
                </a:pPr>
                <a:r>
                  <a:rPr lang="en-US" sz="2400"/>
                  <a:t>Q = 104220 / 108</a:t>
                </a:r>
                <a:endParaRPr lang="en-US" sz="2400"/>
              </a:p>
              <a:p>
                <a:pPr>
                  <a:lnSpc>
                    <a:spcPct val="90000"/>
                  </a:lnSpc>
                </a:pPr>
                <a:r>
                  <a:rPr lang="en-US" sz="2400"/>
                  <a:t>Q = 965C</a:t>
                </a: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  <a:p>
                <a:pPr>
                  <a:lnSpc>
                    <a:spcPct val="90000"/>
                  </a:lnSpc>
                </a:pPr>
                <a:endParaRPr lang="en-US" sz="2400"/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855" y="275590"/>
                <a:ext cx="6092190" cy="92119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01675" y="452120"/>
            <a:ext cx="10788650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rgbClr val="FF0000"/>
                </a:solidFill>
              </a:rPr>
              <a:t>TRY</a:t>
            </a:r>
            <a:endParaRPr lang="en-US"/>
          </a:p>
          <a:p>
            <a:r>
              <a:rPr lang="en-US" sz="3600"/>
              <a:t>What is the mass of Silver deposited when 24125C of electricity is passed through a solution of silver salt (Ag = 108, F = 96500C)</a:t>
            </a:r>
            <a:endParaRPr lang="en-US" sz="3600"/>
          </a:p>
          <a:p>
            <a:endParaRPr lang="en-US" sz="3200"/>
          </a:p>
          <a:p>
            <a:r>
              <a:rPr lang="en-US" sz="3200" b="1">
                <a:solidFill>
                  <a:srgbClr val="FF0000"/>
                </a:solidFill>
              </a:rPr>
              <a:t>Parameters </a:t>
            </a:r>
            <a:endParaRPr lang="en-US" sz="3200" b="1">
              <a:solidFill>
                <a:srgbClr val="FF0000"/>
              </a:solidFill>
            </a:endParaRPr>
          </a:p>
          <a:p>
            <a:r>
              <a:rPr lang="en-US" sz="3600"/>
              <a:t>Q= 24125C</a:t>
            </a:r>
            <a:endParaRPr lang="en-US" sz="3600"/>
          </a:p>
          <a:p>
            <a:r>
              <a:rPr lang="en-US" sz="3600"/>
              <a:t>F = 96500</a:t>
            </a:r>
            <a:endParaRPr lang="en-US" sz="3600"/>
          </a:p>
          <a:p>
            <a:r>
              <a:rPr lang="en-US" sz="3600"/>
              <a:t>M.M = 108</a:t>
            </a:r>
            <a:endParaRPr lang="en-US" sz="3600"/>
          </a:p>
          <a:p>
            <a:r>
              <a:rPr lang="en-US" sz="3600"/>
              <a:t>g = ?</a:t>
            </a:r>
            <a:endParaRPr lang="en-US" sz="3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4052</Words>
  <Application>WPS Presentation</Application>
  <PresentationFormat>Widescreen</PresentationFormat>
  <Paragraphs>265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victory abiokuta</cp:lastModifiedBy>
  <cp:revision>10</cp:revision>
  <dcterms:created xsi:type="dcterms:W3CDTF">2025-02-25T13:20:00Z</dcterms:created>
  <dcterms:modified xsi:type="dcterms:W3CDTF">2025-10-06T14:03:16Z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F75498769B6244F1B254043C421CC04E_11</vt:lpwstr>
  </property>
  <property fmtid="{D5CDD505-2E9C-101B-9397-08002B2CF9AE}" pid="3" name="KSOProductBuildVer">
    <vt:lpwstr>1033-12.2.0.23131</vt:lpwstr>
  </property>
</Properties>
</file>