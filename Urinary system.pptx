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2D86"/>
            </a:gs>
            <a:gs pos="100000">
              <a:srgbClr val="0E255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2660015" y="182245"/>
            <a:ext cx="687197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URINARY SYSTEM</a:t>
            </a:r>
            <a:endParaRPr lang="en-US" altLang="zh-CN" sz="7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2562860" y="1381125"/>
            <a:ext cx="6817360" cy="41186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35290" y="6027420"/>
            <a:ext cx="3851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3600" b="1">
                <a:solidFill>
                  <a:schemeClr val="bg1"/>
                </a:solidFill>
              </a:rPr>
              <a:t>Victory Ogaga</a:t>
            </a:r>
            <a:endParaRPr lang="en-US" sz="3600" b="1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2280" y="6150610"/>
            <a:ext cx="6300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olidFill>
                  <a:schemeClr val="bg1"/>
                </a:solidFill>
              </a:rPr>
              <a:t>EKU NURSING STUDENTS SENIOR BLOCK</a:t>
            </a:r>
            <a:endParaRPr 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454150" y="626110"/>
            <a:ext cx="8703310" cy="534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600" b="1"/>
              <a:t>Urinary system</a:t>
            </a:r>
            <a:endParaRPr lang="en-US" altLang="en-US" sz="3600" b="1"/>
          </a:p>
          <a:p>
            <a:r>
              <a:rPr lang="en-US" altLang="en-US" sz="3200"/>
              <a:t>Not just removing urine(Tho it is it primary function)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Functions</a:t>
            </a:r>
            <a:endParaRPr lang="en-US" altLang="en-US" sz="3200"/>
          </a:p>
          <a:p>
            <a:r>
              <a:rPr lang="en-US" altLang="en-US" sz="3200"/>
              <a:t>1. Removes metabolic waste </a:t>
            </a:r>
            <a:endParaRPr lang="en-US" altLang="en-US" sz="3200"/>
          </a:p>
          <a:p>
            <a:r>
              <a:rPr lang="en-US" altLang="en-US" sz="3200"/>
              <a:t>2. Regulates blood volume and pressure </a:t>
            </a:r>
            <a:endParaRPr lang="en-US" altLang="en-US" sz="3200"/>
          </a:p>
          <a:p>
            <a:r>
              <a:rPr lang="en-US" altLang="en-US" sz="3200"/>
              <a:t>3. Regulates Plasma Conc of sodium, potassium and chloride e.t.c Na+, K+, Cl-</a:t>
            </a:r>
            <a:endParaRPr lang="en-US" altLang="en-US" sz="3200"/>
          </a:p>
          <a:p>
            <a:r>
              <a:rPr lang="en-US" altLang="en-US" sz="3200"/>
              <a:t>4. Helps to stabilise blood PH(Normal PH is 7.4)</a:t>
            </a:r>
            <a:endParaRPr lang="en-US" altLang="en-US" sz="3200"/>
          </a:p>
          <a:p>
            <a:r>
              <a:rPr lang="en-US" altLang="en-US" sz="3200"/>
              <a:t>5. Conserve valuable nutrients</a:t>
            </a:r>
            <a:endParaRPr lang="en-US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60845" y="876300"/>
            <a:ext cx="4632960" cy="508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/>
              <a:t>Organs /Tissue of the urinary system 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 sz="3600"/>
              <a:t>1. Kidney </a:t>
            </a:r>
            <a:endParaRPr lang="en-US" altLang="en-US" sz="3600"/>
          </a:p>
          <a:p>
            <a:r>
              <a:rPr lang="en-US" altLang="en-US" sz="3600"/>
              <a:t>2. Ureters </a:t>
            </a:r>
            <a:endParaRPr lang="en-US" altLang="en-US" sz="3600"/>
          </a:p>
          <a:p>
            <a:r>
              <a:rPr lang="en-US" altLang="en-US" sz="3600"/>
              <a:t>3. Urinary Bladder </a:t>
            </a:r>
            <a:endParaRPr lang="en-US" altLang="en-US" sz="3600"/>
          </a:p>
          <a:p>
            <a:r>
              <a:rPr lang="en-US" altLang="en-US" sz="3600"/>
              <a:t>4. Urethra</a:t>
            </a:r>
            <a:endParaRPr lang="en-US" altLang="en-US" sz="3600"/>
          </a:p>
        </p:txBody>
      </p:sp>
      <p:pic>
        <p:nvPicPr>
          <p:cNvPr id="5" name="Picture 4" descr="2bca4f67-17cf-4bb9-8716-8e3f6cf6e7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790" y="492125"/>
            <a:ext cx="5086350" cy="5467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15 at 8.41.43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755" y="798830"/>
            <a:ext cx="5048250" cy="50101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916295" y="673100"/>
            <a:ext cx="5556250" cy="5135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/>
              <a:t>Kidney anatomy</a:t>
            </a:r>
            <a:endParaRPr lang="en-US" altLang="en-US" sz="2800" b="1"/>
          </a:p>
          <a:p>
            <a:endParaRPr lang="en-US" altLang="en-US" sz="2800" b="1"/>
          </a:p>
          <a:p>
            <a:r>
              <a:rPr lang="en-US" altLang="en-US" sz="2800"/>
              <a:t>2kidneys on either side of the spine. The left Kidney is slightly superior to the right one 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It is reddish brown, Renal cortex, renal medulla, renal pyramid, major/minor calyx,  renal pelvis and Hilum</a:t>
            </a:r>
            <a:endParaRPr lang="en-US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439670" y="720090"/>
            <a:ext cx="8359775" cy="5665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/>
              <a:t>Blood flow to the Kidneys </a:t>
            </a:r>
            <a:endParaRPr lang="en-US" altLang="en-US" sz="3600" b="1"/>
          </a:p>
          <a:p>
            <a:endParaRPr lang="en-US" altLang="en-US" sz="3200"/>
          </a:p>
          <a:p>
            <a:r>
              <a:rPr lang="en-US" altLang="en-US" sz="3200"/>
              <a:t>1. In healthy individuals, over 1 liter of blood flows through the kidneys each minute </a:t>
            </a:r>
            <a:endParaRPr lang="en-US" altLang="en-US" sz="3200"/>
          </a:p>
          <a:p>
            <a:r>
              <a:rPr lang="en-US" altLang="en-US" sz="3200"/>
              <a:t>2. Recieve blood through renal arteries </a:t>
            </a:r>
            <a:endParaRPr lang="en-US" altLang="en-US" sz="3200"/>
          </a:p>
          <a:p>
            <a:r>
              <a:rPr lang="en-US" altLang="en-US" sz="3200"/>
              <a:t>3. Blood leaves through renal veins </a:t>
            </a:r>
            <a:endParaRPr lang="en-US" altLang="en-US" sz="3200"/>
          </a:p>
          <a:p>
            <a:r>
              <a:rPr lang="en-US" altLang="en-US" sz="3200"/>
              <a:t>4. Blood flow regulated by renal nerves</a:t>
            </a:r>
            <a:endParaRPr lang="en-US" alt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15 at 8.55.17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506095"/>
            <a:ext cx="5295900" cy="58451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36410" y="894715"/>
            <a:ext cx="4829175" cy="4314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/>
              <a:t>Nephrons</a:t>
            </a:r>
            <a:endParaRPr lang="en-US" altLang="en-US" sz="3600" b="1"/>
          </a:p>
          <a:p>
            <a:r>
              <a:rPr lang="en-US" altLang="en-US"/>
              <a:t> </a:t>
            </a:r>
            <a:endParaRPr lang="en-US" altLang="en-US"/>
          </a:p>
          <a:p>
            <a:r>
              <a:rPr lang="en-US" altLang="en-US" sz="3200"/>
              <a:t>They are the little filtering unit of the kidney. They are tubular structures in the the cortex of the kidney that do the filtering of blood and production of urine.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1.25 million nephrones per kidney.</a:t>
            </a:r>
            <a:endParaRPr lang="en-US" altLang="en-US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390140" y="1181735"/>
            <a:ext cx="6772910" cy="4847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/>
              <a:t>Glomerulus </a:t>
            </a:r>
            <a:endParaRPr lang="en-US" altLang="en-US" sz="3200"/>
          </a:p>
          <a:p>
            <a:r>
              <a:rPr lang="en-US" altLang="en-US" sz="3200"/>
              <a:t>Bowman's capsule</a:t>
            </a:r>
            <a:endParaRPr lang="en-US" altLang="en-US" sz="3200"/>
          </a:p>
          <a:p>
            <a:r>
              <a:rPr lang="en-US" altLang="en-US" sz="3200"/>
              <a:t>Proximal convoluted tubule (PCT)</a:t>
            </a:r>
            <a:endParaRPr lang="en-US" altLang="en-US" sz="3200"/>
          </a:p>
          <a:p>
            <a:r>
              <a:rPr lang="en-US" altLang="en-US" sz="3200"/>
              <a:t>Loop of Henle </a:t>
            </a:r>
            <a:endParaRPr lang="en-US" altLang="en-US" sz="3200"/>
          </a:p>
          <a:p>
            <a:r>
              <a:rPr lang="en-US" altLang="en-US" sz="3200"/>
              <a:t>Distal convoluted tubule (DCT)</a:t>
            </a:r>
            <a:endParaRPr lang="en-US" alt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15 at 9.04.59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360" y="1031875"/>
            <a:ext cx="3992245" cy="47942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162550" y="1095375"/>
            <a:ext cx="5913120" cy="43694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Glomerular filtration</a:t>
            </a:r>
            <a:endParaRPr lang="en-US" altLang="en-US" sz="3600" b="1"/>
          </a:p>
          <a:p>
            <a:endParaRPr lang="en-US" altLang="en-US"/>
          </a:p>
          <a:p>
            <a:r>
              <a:rPr lang="en-US" altLang="en-US" sz="3200"/>
              <a:t>Glomerulus is a bunch of capillaries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Blood pressure forces water and small solutes across the membrane and into the capsular space</a:t>
            </a:r>
            <a:endParaRPr lang="en-US" alt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852420" y="1826895"/>
            <a:ext cx="583311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/>
              <a:t>Some important nutrients (glucose, fatty acids, amino acids, vitamins) can also pass through.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These are reabsorbed in PTC</a:t>
            </a:r>
            <a:endParaRPr lang="en-US" altLang="en-US"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378700" y="254000"/>
            <a:ext cx="4669790" cy="6474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/>
              <a:t>Right after we leave the glomerulus, a mixture of water, solutes e.t.c comes in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So reabsorption of nutrients, ion, water and plasma proteins happens here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Released into the peritubular fluid</a:t>
            </a:r>
            <a:endParaRPr lang="en-US" altLang="en-US" sz="3200"/>
          </a:p>
          <a:p>
            <a:r>
              <a:rPr lang="en-US" altLang="en-US" sz="3200"/>
              <a:t> Blood stream</a:t>
            </a:r>
            <a:endParaRPr lang="en-US" altLang="en-US" sz="3200"/>
          </a:p>
        </p:txBody>
      </p:sp>
      <p:pic>
        <p:nvPicPr>
          <p:cNvPr id="5" name="Picture 4" descr="WhatsApp Image 2025-02-15 at 9.11.1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45" y="254000"/>
            <a:ext cx="5257800" cy="6109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15 at 9.11.1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905" y="0"/>
            <a:ext cx="4317365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880100" y="397510"/>
            <a:ext cx="5131435" cy="60623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Loop of Henle</a:t>
            </a:r>
            <a:endParaRPr lang="en-US" altLang="en-US" sz="3600" b="1"/>
          </a:p>
          <a:p>
            <a:endParaRPr lang="en-US" altLang="en-US" sz="3200"/>
          </a:p>
          <a:p>
            <a:r>
              <a:rPr lang="en-US" altLang="en-US" sz="3200"/>
              <a:t>Found in the modulla area if kidneys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Pumps put sodium and chloride ions, which move water out of the tubule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Water movement out of the loop helps concentrate the tubular fluid</a:t>
            </a:r>
            <a:endParaRPr lang="en-US" altLang="en-US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5-02-15 at 9.11.1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69900"/>
            <a:ext cx="4317365" cy="59175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119495" y="469900"/>
            <a:ext cx="5545455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/>
              <a:t>DCT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Importance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1. Actively secrets ions, acids, drugs, toxins </a:t>
            </a:r>
            <a:endParaRPr lang="en-US" altLang="en-US" sz="3200"/>
          </a:p>
          <a:p>
            <a:r>
              <a:rPr lang="en-US" altLang="en-US" sz="3200"/>
              <a:t>2. Selectively absorbs sodium and chloride calcium ions</a:t>
            </a:r>
            <a:endParaRPr lang="en-US" altLang="en-US" sz="3200"/>
          </a:p>
          <a:p>
            <a:r>
              <a:rPr lang="en-US" altLang="en-US" sz="3200"/>
              <a:t>3. Selectively absorbs water </a:t>
            </a:r>
            <a:endParaRPr lang="en-US" altLang="en-US" sz="3200"/>
          </a:p>
          <a:p>
            <a:r>
              <a:rPr lang="en-US" altLang="en-US" sz="3200"/>
              <a:t>(Finalising what is going to become a urine )</a:t>
            </a:r>
            <a:endParaRPr lang="en-US" alt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593850" y="547370"/>
            <a:ext cx="8238490" cy="576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/>
              <a:t>Collecting system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 sz="3200"/>
              <a:t>Now, concentrated urine passes through the collecting duct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The fluid empties into the minor calyx which leads to the major calyx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Major calyx leads to the pelvis, then to the ureters</a:t>
            </a:r>
            <a:endParaRPr lang="en-US" alt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613025" y="303530"/>
            <a:ext cx="7664450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3600" b="1"/>
              <a:t>Urine</a:t>
            </a:r>
            <a:endParaRPr lang="en-US" altLang="en-US" sz="3600" b="1"/>
          </a:p>
          <a:p>
            <a:r>
              <a:rPr lang="en-US" altLang="en-US" sz="3200"/>
              <a:t>Approx 95% water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Urea: comes from breakdown of amino acids 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Creatinine: comes from break down of creatine phosphate (from muscles)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Uric acid: formed from recycling of nitrogenous bases of RNA</a:t>
            </a:r>
            <a:endParaRPr lang="en-US" altLang="en-US" sz="3200"/>
          </a:p>
          <a:p>
            <a:endParaRPr lang="en-US" altLang="en-US" sz="3200"/>
          </a:p>
          <a:p>
            <a:r>
              <a:rPr lang="en-US" altLang="en-US" sz="3200"/>
              <a:t>Urobilin: a byproduct of the breakdown of bilirubin</a:t>
            </a:r>
            <a:endParaRPr lang="en-US" altLang="en-US"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565400" y="1196975"/>
            <a:ext cx="734695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/>
              <a:t>Urinary conditions/ Disorders </a:t>
            </a:r>
            <a:endParaRPr lang="en-US" altLang="en-US" sz="3600" b="1"/>
          </a:p>
          <a:p>
            <a:endParaRPr lang="en-US" altLang="en-US" sz="3600" b="1"/>
          </a:p>
          <a:p>
            <a:r>
              <a:rPr lang="en-US" altLang="en-US" sz="3200"/>
              <a:t>1. Urinary tract infections (UTI)</a:t>
            </a:r>
            <a:endParaRPr lang="en-US" altLang="en-US" sz="3200"/>
          </a:p>
          <a:p>
            <a:r>
              <a:rPr lang="en-US" altLang="en-US" sz="3200"/>
              <a:t>2. Kidney stones </a:t>
            </a:r>
            <a:endParaRPr lang="en-US" altLang="en-US" sz="3200"/>
          </a:p>
          <a:p>
            <a:r>
              <a:rPr lang="en-US" altLang="en-US" sz="3200"/>
              <a:t>3. Kidney dialysis</a:t>
            </a:r>
            <a:endParaRPr lang="en-US" alt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2587</Words>
  <Application>WPS Presentation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victory abiokuta</cp:lastModifiedBy>
  <cp:revision>2</cp:revision>
  <dcterms:created xsi:type="dcterms:W3CDTF">2025-02-15T09:17:00Z</dcterms:created>
  <dcterms:modified xsi:type="dcterms:W3CDTF">2025-10-09T18:30:38Z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B170C70F871F4689B91B52DB988367DD_11</vt:lpwstr>
  </property>
  <property fmtid="{D5CDD505-2E9C-101B-9397-08002B2CF9AE}" pid="3" name="KSOProductBuildVer">
    <vt:lpwstr>1033-12.2.0.23131</vt:lpwstr>
  </property>
</Properties>
</file>